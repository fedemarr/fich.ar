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</p:sldMasterIdLst>
  <p:sldIdLst>
    <p:sldId id="256" r:id="rId2"/>
    <p:sldId id="325" r:id="rId3"/>
    <p:sldId id="326" r:id="rId4"/>
    <p:sldId id="327" r:id="rId5"/>
    <p:sldId id="328" r:id="rId6"/>
    <p:sldId id="330" r:id="rId7"/>
    <p:sldId id="331" r:id="rId8"/>
    <p:sldId id="332" r:id="rId9"/>
    <p:sldId id="333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2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D7B5-5C8B-4ED9-AA0F-51B04611E34B}" type="datetimeFigureOut">
              <a:rPr lang="es-AR" smtClean="0"/>
              <a:t>2/8/2023</a:t>
            </a:fld>
            <a:endParaRPr lang="es-A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9F721-B5FC-449A-9C1F-70431CF7681D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93288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D7B5-5C8B-4ED9-AA0F-51B04611E34B}" type="datetimeFigureOut">
              <a:rPr lang="es-AR" smtClean="0"/>
              <a:t>2/8/2023</a:t>
            </a:fld>
            <a:endParaRPr lang="es-A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9F721-B5FC-449A-9C1F-70431CF7681D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0296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D7B5-5C8B-4ED9-AA0F-51B04611E34B}" type="datetimeFigureOut">
              <a:rPr lang="es-AR" smtClean="0"/>
              <a:t>2/8/2023</a:t>
            </a:fld>
            <a:endParaRPr lang="es-A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9F721-B5FC-449A-9C1F-70431CF7681D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55857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D7B5-5C8B-4ED9-AA0F-51B04611E34B}" type="datetimeFigureOut">
              <a:rPr lang="es-AR" smtClean="0"/>
              <a:t>2/8/2023</a:t>
            </a:fld>
            <a:endParaRPr lang="es-A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9F721-B5FC-449A-9C1F-70431CF7681D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92746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D7B5-5C8B-4ED9-AA0F-51B04611E34B}" type="datetimeFigureOut">
              <a:rPr lang="es-AR" smtClean="0"/>
              <a:t>2/8/2023</a:t>
            </a:fld>
            <a:endParaRPr lang="es-A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9F721-B5FC-449A-9C1F-70431CF7681D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77555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D7B5-5C8B-4ED9-AA0F-51B04611E34B}" type="datetimeFigureOut">
              <a:rPr lang="es-AR" smtClean="0"/>
              <a:t>2/8/2023</a:t>
            </a:fld>
            <a:endParaRPr lang="es-AR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9F721-B5FC-449A-9C1F-70431CF7681D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18532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D7B5-5C8B-4ED9-AA0F-51B04611E34B}" type="datetimeFigureOut">
              <a:rPr lang="es-AR" smtClean="0"/>
              <a:t>2/8/2023</a:t>
            </a:fld>
            <a:endParaRPr lang="es-AR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9F721-B5FC-449A-9C1F-70431CF7681D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857530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D7B5-5C8B-4ED9-AA0F-51B04611E34B}" type="datetimeFigureOut">
              <a:rPr lang="es-AR" smtClean="0"/>
              <a:t>2/8/2023</a:t>
            </a:fld>
            <a:endParaRPr lang="es-AR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9F721-B5FC-449A-9C1F-70431CF7681D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43460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D7B5-5C8B-4ED9-AA0F-51B04611E34B}" type="datetimeFigureOut">
              <a:rPr lang="es-AR" smtClean="0"/>
              <a:t>2/8/2023</a:t>
            </a:fld>
            <a:endParaRPr lang="es-A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9F721-B5FC-449A-9C1F-70431CF7681D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251151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D7B5-5C8B-4ED9-AA0F-51B04611E34B}" type="datetimeFigureOut">
              <a:rPr lang="es-AR" smtClean="0"/>
              <a:t>2/8/2023</a:t>
            </a:fld>
            <a:endParaRPr lang="es-A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9F721-B5FC-449A-9C1F-70431CF7681D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73409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D7B5-5C8B-4ED9-AA0F-51B04611E34B}" type="datetimeFigureOut">
              <a:rPr lang="es-AR" smtClean="0"/>
              <a:t>2/8/2023</a:t>
            </a:fld>
            <a:endParaRPr lang="es-A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9F721-B5FC-449A-9C1F-70431CF7681D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023312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D7B5-5C8B-4ED9-AA0F-51B04611E34B}" type="datetimeFigureOut">
              <a:rPr lang="es-AR" smtClean="0"/>
              <a:t>2/8/2023</a:t>
            </a:fld>
            <a:endParaRPr lang="es-A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9F721-B5FC-449A-9C1F-70431CF7681D}" type="slidenum">
              <a:rPr lang="es-AR" smtClean="0"/>
              <a:t>‹#›</a:t>
            </a:fld>
            <a:endParaRPr lang="es-AR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30640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D7B5-5C8B-4ED9-AA0F-51B04611E34B}" type="datetimeFigureOut">
              <a:rPr lang="es-AR" smtClean="0"/>
              <a:t>2/8/2023</a:t>
            </a:fld>
            <a:endParaRPr lang="es-A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9F721-B5FC-449A-9C1F-70431CF7681D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501066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D7B5-5C8B-4ED9-AA0F-51B04611E34B}" type="datetimeFigureOut">
              <a:rPr lang="es-AR" smtClean="0"/>
              <a:t>2/8/2023</a:t>
            </a:fld>
            <a:endParaRPr lang="es-AR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9F721-B5FC-449A-9C1F-70431CF7681D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705337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D7B5-5C8B-4ED9-AA0F-51B04611E34B}" type="datetimeFigureOut">
              <a:rPr lang="es-AR" smtClean="0"/>
              <a:t>2/8/2023</a:t>
            </a:fld>
            <a:endParaRPr lang="es-AR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9F721-B5FC-449A-9C1F-70431CF7681D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221079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D7B5-5C8B-4ED9-AA0F-51B04611E34B}" type="datetimeFigureOut">
              <a:rPr lang="es-AR" smtClean="0"/>
              <a:t>2/8/2023</a:t>
            </a:fld>
            <a:endParaRPr lang="es-A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9F721-B5FC-449A-9C1F-70431CF7681D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772688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D7B5-5C8B-4ED9-AA0F-51B04611E34B}" type="datetimeFigureOut">
              <a:rPr lang="es-AR" smtClean="0"/>
              <a:t>2/8/2023</a:t>
            </a:fld>
            <a:endParaRPr lang="es-A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9F721-B5FC-449A-9C1F-70431CF7681D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080591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2B1D7B5-5C8B-4ED9-AA0F-51B04611E34B}" type="datetimeFigureOut">
              <a:rPr lang="es-AR" smtClean="0"/>
              <a:t>2/8/2023</a:t>
            </a:fld>
            <a:endParaRPr lang="es-A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9F721-B5FC-449A-9C1F-70431CF7681D}" type="slidenum">
              <a:rPr lang="es-AR" smtClean="0"/>
              <a:t>‹#›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287501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7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5.png"/><Relationship Id="rId7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16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7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9.png"/><Relationship Id="rId7" Type="http://schemas.openxmlformats.org/officeDocument/2006/relationships/image" Target="../media/image4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220.png"/><Relationship Id="rId5" Type="http://schemas.openxmlformats.org/officeDocument/2006/relationships/image" Target="../media/image64.png"/><Relationship Id="rId10" Type="http://schemas.openxmlformats.org/officeDocument/2006/relationships/image" Target="../media/image190.png"/><Relationship Id="rId4" Type="http://schemas.openxmlformats.org/officeDocument/2006/relationships/image" Target="../media/image63.png"/><Relationship Id="rId9" Type="http://schemas.openxmlformats.org/officeDocument/2006/relationships/image" Target="../media/image17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1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79.png"/><Relationship Id="rId5" Type="http://schemas.openxmlformats.org/officeDocument/2006/relationships/image" Target="../media/image74.png"/><Relationship Id="rId10" Type="http://schemas.openxmlformats.org/officeDocument/2006/relationships/image" Target="../media/image78.png"/><Relationship Id="rId4" Type="http://schemas.openxmlformats.org/officeDocument/2006/relationships/image" Target="../media/image73.png"/><Relationship Id="rId9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AB410-32D9-4F75-AF7F-952699891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3738" y="2732012"/>
            <a:ext cx="9144000" cy="1443168"/>
          </a:xfrm>
        </p:spPr>
        <p:txBody>
          <a:bodyPr>
            <a:normAutofit fontScale="90000"/>
            <a:scene3d>
              <a:camera prst="isometricLeftDown"/>
              <a:lightRig rig="threePt" dir="t"/>
            </a:scene3d>
            <a:sp3d extrusionH="57150">
              <a:bevelT w="57150" h="38100" prst="hardEdge"/>
            </a:sp3d>
          </a:bodyPr>
          <a:lstStyle/>
          <a:p>
            <a:r>
              <a:rPr lang="es-AR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  <a:reflection blurRad="6350" stA="55000" endA="50" endPos="85000" dist="60007" dir="5400000" sy="-100000" algn="bl" rotWithShape="0"/>
                </a:effectLst>
              </a:rPr>
              <a:t>Regresion</a:t>
            </a:r>
            <a:r>
              <a:rPr lang="es-AR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  <a:reflection blurRad="6350" stA="55000" endA="50" endPos="85000" dist="60007" dir="5400000" sy="-100000" algn="bl" rotWithShape="0"/>
                </a:effectLst>
              </a:rPr>
              <a:t> Lineal simple</a:t>
            </a:r>
            <a:endParaRPr lang="es-AR" sz="7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  <a:reflection blurRad="6350" stA="55000" endA="50" endPos="85000" dist="60007" dir="5400000" sy="-100000" algn="bl" rotWithShape="0"/>
              </a:effectLst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846F89-C662-426C-AE4F-D7761F56E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3250" y="4077023"/>
            <a:ext cx="9144000" cy="873690"/>
          </a:xfrm>
        </p:spPr>
        <p:txBody>
          <a:bodyPr>
            <a:normAutofit/>
            <a:scene3d>
              <a:camera prst="isometricLeftDown"/>
              <a:lightRig rig="threePt" dir="t"/>
            </a:scene3d>
          </a:bodyPr>
          <a:lstStyle/>
          <a:p>
            <a:r>
              <a:rPr lang="es-AR" sz="4800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  <a:reflection blurRad="6350" stA="55000" endA="50" endPos="85000" dist="60007" dir="5400000" sy="-100000" algn="bl" rotWithShape="0"/>
                </a:effectLst>
              </a:rPr>
              <a:t>Lic. Ezequiel Gutierrez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97E27C8-02B9-42A8-8C93-D5D43F1D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882" y="675078"/>
            <a:ext cx="2732143" cy="127285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81AD2FF-47A8-4419-A54F-D04BDC49905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77807" y="556219"/>
            <a:ext cx="1476670" cy="147405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6A79B80-BDD7-409D-825E-39EA75DB78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528" y="2814348"/>
            <a:ext cx="4055941" cy="2222050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reflection blurRad="6350" stA="50000" endA="295" endPos="92000" dist="101600" dir="5400000" sy="-100000" algn="bl" rotWithShape="0"/>
          </a:effectLst>
          <a:scene3d>
            <a:camera prst="isometricLeftDown"/>
            <a:lightRig rig="threePt" dir="t"/>
          </a:scene3d>
          <a:sp3d>
            <a:bevelT w="101600" prst="riblet"/>
          </a:sp3d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3F9DABC-DD22-41C3-BBE0-F6BB6421996B}"/>
                  </a:ext>
                </a:extLst>
              </p:cNvPr>
              <p:cNvSpPr txBox="1"/>
              <p:nvPr/>
            </p:nvSpPr>
            <p:spPr>
              <a:xfrm>
                <a:off x="-1181622" y="5200382"/>
                <a:ext cx="6212909" cy="11925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  <a:scene3d>
                  <a:camera prst="isometricLeftDown"/>
                  <a:lightRig rig="threePt" dir="t"/>
                </a:scene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sz="3200" b="1" i="1" smtClean="0">
                              <a:ln w="22225">
                                <a:solidFill>
                                  <a:schemeClr val="accent1"/>
                                </a:solidFill>
                                <a:prstDash val="solid"/>
                              </a:ln>
                              <a:solidFill>
                                <a:srgbClr val="FFFF00"/>
                              </a:solidFill>
                              <a:effectLst>
                                <a:outerShdw blurRad="60007" dist="200025" dir="15000000" sy="30000" kx="-1800000" algn="bl" rotWithShape="0">
                                  <a:prstClr val="black">
                                    <a:alpha val="32000"/>
                                  </a:prst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AR" sz="3200" b="1" i="1" smtClean="0">
                              <a:ln w="22225">
                                <a:solidFill>
                                  <a:schemeClr val="accent1"/>
                                </a:solidFill>
                                <a:prstDash val="solid"/>
                              </a:ln>
                              <a:solidFill>
                                <a:srgbClr val="FFFF00"/>
                              </a:solidFill>
                              <a:effectLst>
                                <a:outerShdw blurRad="60007" dist="200025" dir="15000000" sy="30000" kx="-1800000" algn="bl" rotWithShape="0">
                                  <a:prstClr val="black">
                                    <a:alpha val="32000"/>
                                  </a:prst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200" b="1" i="1" smtClean="0">
                              <a:ln w="22225">
                                <a:solidFill>
                                  <a:schemeClr val="accent1"/>
                                </a:solidFill>
                                <a:prstDash val="solid"/>
                              </a:ln>
                              <a:solidFill>
                                <a:srgbClr val="FFFF00"/>
                              </a:solidFill>
                              <a:effectLst>
                                <a:outerShdw blurRad="60007" dist="200025" dir="15000000" sy="30000" kx="-1800000" algn="bl" rotWithShape="0">
                                  <a:prstClr val="black">
                                    <a:alpha val="32000"/>
                                  </a:prst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s-AR" sz="3200" b="1" i="1" smtClean="0">
                              <a:ln w="22225">
                                <a:solidFill>
                                  <a:schemeClr val="accent1"/>
                                </a:solidFill>
                                <a:prstDash val="solid"/>
                              </a:ln>
                              <a:solidFill>
                                <a:srgbClr val="FFFF00"/>
                              </a:solidFill>
                              <a:effectLst>
                                <a:outerShdw blurRad="60007" dist="200025" dir="15000000" sy="30000" kx="-1800000" algn="bl" rotWithShape="0">
                                  <a:prstClr val="black">
                                    <a:alpha val="32000"/>
                                  </a:prst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AR" sz="3200" b="1" i="1" smtClean="0">
                              <a:ln w="22225">
                                <a:solidFill>
                                  <a:schemeClr val="accent1"/>
                                </a:solidFill>
                                <a:prstDash val="solid"/>
                              </a:ln>
                              <a:solidFill>
                                <a:srgbClr val="FFFF00"/>
                              </a:solidFill>
                              <a:effectLst>
                                <a:outerShdw blurRad="60007" dist="200025" dir="15000000" sy="30000" kx="-1800000" algn="bl" rotWithShape="0">
                                  <a:prstClr val="black">
                                    <a:alpha val="32000"/>
                                  </a:prst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AR" sz="3200" b="1" i="1" smtClean="0">
                              <a:ln w="22225">
                                <a:solidFill>
                                  <a:schemeClr val="accent1"/>
                                </a:solidFill>
                                <a:prstDash val="solid"/>
                              </a:ln>
                              <a:solidFill>
                                <a:srgbClr val="FFFF00"/>
                              </a:solidFill>
                              <a:effectLst>
                                <a:outerShdw blurRad="60007" dist="200025" dir="15000000" sy="30000" kx="-1800000" algn="bl" rotWithShape="0">
                                  <a:prstClr val="black">
                                    <a:alpha val="32000"/>
                                  </a:prst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200" b="1" i="1" smtClean="0">
                              <a:ln w="22225">
                                <a:solidFill>
                                  <a:schemeClr val="accent1"/>
                                </a:solidFill>
                                <a:prstDash val="solid"/>
                              </a:ln>
                              <a:solidFill>
                                <a:srgbClr val="FFFF00"/>
                              </a:solidFill>
                              <a:effectLst>
                                <a:outerShdw blurRad="60007" dist="200025" dir="15000000" sy="30000" kx="-1800000" algn="bl" rotWithShape="0">
                                  <a:prstClr val="black">
                                    <a:alpha val="32000"/>
                                  </a:prst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s-AR" b="1" dirty="0">
                  <a:ln w="22225">
                    <a:solidFill>
                      <a:schemeClr val="accent1">
                        <a:lumMod val="60000"/>
                        <a:lumOff val="40000"/>
                      </a:schemeClr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3F9DABC-DD22-41C3-BBE0-F6BB64219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81622" y="5200382"/>
                <a:ext cx="6212909" cy="1192506"/>
              </a:xfrm>
              <a:prstGeom prst="rect">
                <a:avLst/>
              </a:prstGeom>
              <a:blipFill>
                <a:blip r:embed="rId6"/>
                <a:stretch>
                  <a:fillRect t="-17857" b="-183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A7A0003A-4084-4771-A65E-4F93C8913DE2}"/>
                  </a:ext>
                </a:extLst>
              </p:cNvPr>
              <p:cNvSpPr txBox="1"/>
              <p:nvPr/>
            </p:nvSpPr>
            <p:spPr>
              <a:xfrm>
                <a:off x="7232685" y="2403337"/>
                <a:ext cx="4426340" cy="16145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  <a:scene3d>
                  <a:camera prst="isometricLeftDown"/>
                  <a:lightRig rig="threePt" dir="t"/>
                </a:scene3d>
                <a:sp3d extrusionH="57150">
                  <a:bevelT w="38100" h="38100" prst="slope"/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AR" sz="4000" i="1" smtClean="0">
                              <a:ln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</a:ln>
                              <a:solidFill>
                                <a:srgbClr val="FFFF00"/>
                              </a:solidFill>
                              <a:effectLst>
                                <a:reflection blurRad="6350" stA="55000" endA="50" endPos="85000" dist="60007" dir="5400000" sy="-100000" algn="bl" rotWithShape="0"/>
                              </a:effectLst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s-AR" sz="4000" i="1" smtClean="0">
                                  <a:ln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</a:ln>
                                  <a:solidFill>
                                    <a:srgbClr val="FFFF00"/>
                                  </a:solidFill>
                                  <a:effectLst>
                                    <a:reflection blurRad="6350" stA="55000" endA="50" endPos="85000" dist="60007" dir="5400000" sy="-100000" algn="bl" rotWithShape="0"/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AR" sz="4000" i="1" smtClean="0">
                                      <a:ln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</a:ln>
                                      <a:solidFill>
                                        <a:srgbClr val="FFFF00"/>
                                      </a:solidFill>
                                      <a:effectLst>
                                        <a:reflection blurRad="6350" stA="55000" endA="50" endPos="85000" dist="60007" dir="5400000" sy="-100000" algn="bl" rotWithShape="0"/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4000" b="0" i="1" smtClean="0">
                                      <a:ln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</a:ln>
                                      <a:solidFill>
                                        <a:srgbClr val="FFFF00"/>
                                      </a:solidFill>
                                      <a:effectLst>
                                        <a:reflection blurRad="6350" stA="55000" endA="50" endPos="85000" dist="60007" dir="5400000" sy="-100000" algn="bl" rotWithShape="0"/>
                                      </a:effectLst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AR" sz="4000" b="0" i="1" smtClean="0">
                                      <a:ln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</a:ln>
                                      <a:solidFill>
                                        <a:srgbClr val="FFFF00"/>
                                      </a:solidFill>
                                      <a:effectLst>
                                        <a:reflection blurRad="6350" stA="55000" endA="50" endPos="85000" dist="60007" dir="5400000" sy="-100000" algn="bl" rotWithShape="0"/>
                                      </a:effectLst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AR" sz="4000" b="0" i="1" smtClean="0">
                                      <a:ln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</a:ln>
                                      <a:solidFill>
                                        <a:srgbClr val="FFFF00"/>
                                      </a:solidFill>
                                      <a:effectLst>
                                        <a:reflection blurRad="6350" stA="55000" endA="50" endPos="85000" dist="60007" dir="5400000" sy="-100000" algn="bl" rotWithShape="0"/>
                                      </a:effectLst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es-AR" sz="4000" b="0" i="1" smtClean="0">
                                      <a:ln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</a:ln>
                                      <a:solidFill>
                                        <a:srgbClr val="FFFF00"/>
                                      </a:solidFill>
                                      <a:effectLst>
                                        <a:reflection blurRad="6350" stA="55000" endA="50" endPos="85000" dist="60007" dir="5400000" sy="-100000" algn="bl" rotWithShape="0"/>
                                      </a:effectLst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AR" sz="4000" b="0" i="1" smtClean="0">
                                      <a:ln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</a:ln>
                                      <a:solidFill>
                                        <a:srgbClr val="FFFF00"/>
                                      </a:solidFill>
                                      <a:effectLst>
                                        <a:reflection blurRad="6350" stA="55000" endA="50" endPos="85000" dist="60007" dir="5400000" sy="-100000" algn="bl" rotWithShape="0"/>
                                      </a:effectLst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AR" sz="4000" b="0" i="1" smtClean="0">
                                      <a:ln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</a:ln>
                                      <a:solidFill>
                                        <a:srgbClr val="FFFF00"/>
                                      </a:solidFill>
                                      <a:effectLst>
                                        <a:reflection blurRad="6350" stA="55000" endA="50" endPos="85000" dist="60007" dir="5400000" sy="-100000" algn="bl" rotWithShape="0"/>
                                      </a:effectLst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s-AR" sz="4000" b="0" i="1" smtClean="0">
                                  <a:ln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</a:ln>
                                  <a:solidFill>
                                    <a:srgbClr val="FFFF00"/>
                                  </a:solidFill>
                                  <a:effectLst>
                                    <a:reflection blurRad="6350" stA="55000" endA="50" endPos="85000" dist="60007" dir="5400000" sy="-100000" algn="bl" rotWithShape="0"/>
                                  </a:effectLst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4000" b="0" i="1" smtClean="0">
                              <a:ln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</a:ln>
                              <a:solidFill>
                                <a:srgbClr val="FFFF00"/>
                              </a:solidFill>
                              <a:effectLst>
                                <a:reflection blurRad="6350" stA="55000" endA="50" endPos="85000" dist="60007" dir="5400000" sy="-100000" algn="bl" rotWithShape="0"/>
                              </a:effectLst>
                              <a:latin typeface="Cambria Math" panose="02040503050406030204" pitchFamily="18" charset="0"/>
                            </a:rPr>
                            <m:t>𝑓𝑥</m:t>
                          </m:r>
                          <m:r>
                            <a:rPr lang="es-AR" sz="4000" b="0" i="1" smtClean="0">
                              <a:ln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</a:ln>
                              <a:solidFill>
                                <a:srgbClr val="FFFF00"/>
                              </a:solidFill>
                              <a:effectLst>
                                <a:reflection blurRad="6350" stA="55000" endA="50" endPos="85000" dist="60007" dir="5400000" sy="-100000" algn="bl" rotWithShape="0"/>
                              </a:effectLst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AR" sz="4000" b="0" i="1" smtClean="0">
                              <a:ln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</a:ln>
                              <a:solidFill>
                                <a:srgbClr val="FFFF00"/>
                              </a:solidFill>
                              <a:effectLst>
                                <a:reflection blurRad="6350" stA="55000" endA="50" endPos="85000" dist="60007" dir="5400000" sy="-100000" algn="bl" rotWithShape="0"/>
                              </a:effectLst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s-AR" dirty="0"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A7A0003A-4084-4771-A65E-4F93C8913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685" y="2403337"/>
                <a:ext cx="4426340" cy="1614545"/>
              </a:xfrm>
              <a:prstGeom prst="rect">
                <a:avLst/>
              </a:prstGeom>
              <a:blipFill>
                <a:blip r:embed="rId7"/>
                <a:stretch>
                  <a:fillRect t="-37358" b="-10188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1989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3161B4-EFA5-48D3-81E3-CC0734F7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6999289" cy="791882"/>
          </a:xfrm>
        </p:spPr>
        <p:txBody>
          <a:bodyPr/>
          <a:lstStyle/>
          <a:p>
            <a:r>
              <a:rPr lang="es-AR" dirty="0"/>
              <a:t>REGRESION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4AA1A0F-D5F8-4BDB-B8B9-6211FF8694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6612" y="1331259"/>
                <a:ext cx="8946541" cy="4195481"/>
              </a:xfrm>
            </p:spPr>
            <p:txBody>
              <a:bodyPr/>
              <a:lstStyle/>
              <a:p>
                <a:r>
                  <a:rPr lang="es-AR" dirty="0"/>
                  <a:t>El modelo de </a:t>
                </a:r>
                <a:r>
                  <a:rPr lang="es-AR" dirty="0" err="1"/>
                  <a:t>Regresion</a:t>
                </a:r>
                <a:r>
                  <a:rPr lang="es-AR" dirty="0"/>
                  <a:t> es una representación de la realidad para la estimación de una variable</a:t>
                </a:r>
              </a:p>
              <a:p>
                <a:r>
                  <a:rPr lang="es-AR" dirty="0"/>
                  <a:t>Busca establecer si una variable depende de otras(</a:t>
                </a:r>
                <a:r>
                  <a:rPr lang="es-AR" dirty="0" err="1"/>
                  <a:t>Multiple</a:t>
                </a:r>
                <a:r>
                  <a:rPr lang="es-AR" dirty="0"/>
                  <a:t>)</a:t>
                </a:r>
              </a:p>
              <a:p>
                <a:r>
                  <a:rPr lang="es-AR" dirty="0"/>
                  <a:t>Se busca una función</a:t>
                </a:r>
                <a14:m>
                  <m:oMath xmlns:m="http://schemas.openxmlformats.org/officeDocument/2006/math">
                    <m:r>
                      <a:rPr lang="es-A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AR" b="0" i="1" smtClean="0">
                        <a:latin typeface="Cambria Math" panose="02040503050406030204" pitchFamily="18" charset="0"/>
                      </a:rPr>
                      <m:t>; </m:t>
                    </m:r>
                    <m:sSub>
                      <m:sSub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AR" b="0" i="1" smtClean="0">
                        <a:latin typeface="Cambria Math" panose="02040503050406030204" pitchFamily="18" charset="0"/>
                      </a:rPr>
                      <m:t>;…; </m:t>
                    </m:r>
                    <m:sSub>
                      <m:sSub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A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AR" dirty="0"/>
                  <a:t> que explique el comportamiento de la variable</a:t>
                </a:r>
              </a:p>
              <a:p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A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AR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A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AR" dirty="0"/>
                  <a:t> es el modelo a establecer</a:t>
                </a:r>
              </a:p>
              <a:p>
                <a:r>
                  <a:rPr lang="es-AR" dirty="0"/>
                  <a:t>Existen muchas funciones diferentes para explicar y estimar la variable</a:t>
                </a:r>
              </a:p>
              <a:p>
                <a:r>
                  <a:rPr lang="es-AR" dirty="0"/>
                  <a:t>Lo mas adecuado es establecer un modelo Lineal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4AA1A0F-D5F8-4BDB-B8B9-6211FF8694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6612" y="1331259"/>
                <a:ext cx="8946541" cy="4195481"/>
              </a:xfrm>
              <a:blipFill>
                <a:blip r:embed="rId2"/>
                <a:stretch>
                  <a:fillRect l="-272" t="-72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414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3161B4-EFA5-48D3-81E3-CC0734F7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6999289" cy="791882"/>
          </a:xfrm>
        </p:spPr>
        <p:txBody>
          <a:bodyPr/>
          <a:lstStyle/>
          <a:p>
            <a:r>
              <a:rPr lang="es-AR" dirty="0"/>
              <a:t>REGRESION </a:t>
            </a:r>
          </a:p>
        </p:txBody>
      </p:sp>
      <p:pic>
        <p:nvPicPr>
          <p:cNvPr id="7" name="Imagen 6" descr="Imagen que contiene pájaro, grupo, vuelo&#10;&#10;Descripción generada automáticamente">
            <a:extLst>
              <a:ext uri="{FF2B5EF4-FFF2-40B4-BE49-F238E27FC236}">
                <a16:creationId xmlns:a16="http://schemas.microsoft.com/office/drawing/2014/main" id="{93636AA1-94B6-4B26-80F0-BB6EF8AC8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48" y="2157457"/>
            <a:ext cx="6096000" cy="3429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6D69F46-07A5-4C08-BAEC-7FC69213C345}"/>
                  </a:ext>
                </a:extLst>
              </p:cNvPr>
              <p:cNvSpPr txBox="1"/>
              <p:nvPr/>
            </p:nvSpPr>
            <p:spPr>
              <a:xfrm>
                <a:off x="889348" y="1377863"/>
                <a:ext cx="974524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AR" dirty="0"/>
                  <a:t>Supongamos que queremos analizar si las temperaturas</a:t>
                </a:r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AR" dirty="0"/>
                  <a:t> infieren sobre las toneladas de trigo cosechadas</a:t>
                </a:r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AR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6D69F46-07A5-4C08-BAEC-7FC69213C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348" y="1377863"/>
                <a:ext cx="9745249" cy="646331"/>
              </a:xfrm>
              <a:prstGeom prst="rect">
                <a:avLst/>
              </a:prstGeom>
              <a:blipFill>
                <a:blip r:embed="rId3"/>
                <a:stretch>
                  <a:fillRect l="-438" t="-4717" b="-1415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819E438F-86FB-4634-A628-C7D7BA64AC62}"/>
              </a:ext>
            </a:extLst>
          </p:cNvPr>
          <p:cNvCxnSpPr/>
          <p:nvPr/>
        </p:nvCxnSpPr>
        <p:spPr>
          <a:xfrm flipV="1">
            <a:off x="7102258" y="3106455"/>
            <a:ext cx="1327758" cy="187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8FCBB4E-D3FE-4A0F-B8FA-7905F192F04A}"/>
              </a:ext>
            </a:extLst>
          </p:cNvPr>
          <p:cNvSpPr txBox="1"/>
          <p:nvPr/>
        </p:nvSpPr>
        <p:spPr>
          <a:xfrm>
            <a:off x="8430016" y="2874909"/>
            <a:ext cx="336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GRAFICO DE DISPERSION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41B868E-4F11-4DF9-9553-F79FF1F8A0F3}"/>
              </a:ext>
            </a:extLst>
          </p:cNvPr>
          <p:cNvSpPr txBox="1"/>
          <p:nvPr/>
        </p:nvSpPr>
        <p:spPr>
          <a:xfrm>
            <a:off x="730684" y="6023424"/>
            <a:ext cx="10062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En este grafico no puede observarse si existe una relación entre las variables</a:t>
            </a:r>
          </a:p>
        </p:txBody>
      </p:sp>
    </p:spTree>
    <p:extLst>
      <p:ext uri="{BB962C8B-B14F-4D97-AF65-F5344CB8AC3E}">
        <p14:creationId xmlns:p14="http://schemas.microsoft.com/office/powerpoint/2010/main" val="142819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3161B4-EFA5-48D3-81E3-CC0734F7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6999289" cy="791882"/>
          </a:xfrm>
        </p:spPr>
        <p:txBody>
          <a:bodyPr/>
          <a:lstStyle/>
          <a:p>
            <a:r>
              <a:rPr lang="es-AR" dirty="0"/>
              <a:t>REGRESION LINEAL </a:t>
            </a:r>
          </a:p>
        </p:txBody>
      </p:sp>
      <p:pic>
        <p:nvPicPr>
          <p:cNvPr id="4" name="Imagen 3" descr="Imagen que contiene diferente, foto, grupo&#10;&#10;Descripción generada automáticamente">
            <a:extLst>
              <a:ext uri="{FF2B5EF4-FFF2-40B4-BE49-F238E27FC236}">
                <a16:creationId xmlns:a16="http://schemas.microsoft.com/office/drawing/2014/main" id="{72AF9F2D-D880-4357-9EE8-FAC67473E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127" y="1533655"/>
            <a:ext cx="6739003" cy="379068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1A69467-32A7-48CA-B464-C2251804D9DE}"/>
              </a:ext>
            </a:extLst>
          </p:cNvPr>
          <p:cNvSpPr txBox="1"/>
          <p:nvPr/>
        </p:nvSpPr>
        <p:spPr>
          <a:xfrm>
            <a:off x="1265127" y="5774499"/>
            <a:ext cx="980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El objetivo es hallar una recta que pueda establecer esa </a:t>
            </a:r>
            <a:r>
              <a:rPr lang="es-AR" dirty="0" err="1"/>
              <a:t>relacion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50122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3161B4-EFA5-48D3-81E3-CC0734F7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6999289" cy="791882"/>
          </a:xfrm>
        </p:spPr>
        <p:txBody>
          <a:bodyPr/>
          <a:lstStyle/>
          <a:p>
            <a:r>
              <a:rPr lang="es-AR" dirty="0"/>
              <a:t>REGRESION LINEAL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ACF5A8D-8314-4823-A467-04D1A5927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221" y="1208762"/>
            <a:ext cx="6981171" cy="39269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AC9B5A7-7635-4224-A70A-E2E8945BF5F3}"/>
                  </a:ext>
                </a:extLst>
              </p:cNvPr>
              <p:cNvSpPr txBox="1"/>
              <p:nvPr/>
            </p:nvSpPr>
            <p:spPr>
              <a:xfrm>
                <a:off x="914400" y="5649238"/>
                <a:ext cx="363254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6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s-AR" sz="36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s-AR" sz="36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s-AR" sz="36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s-AR" sz="3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s-AR" sz="3600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AR" sz="3600" b="1" dirty="0"/>
              </a:p>
              <a:p>
                <a:endParaRPr lang="es-AR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AC9B5A7-7635-4224-A70A-E2E8945BF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649238"/>
                <a:ext cx="3632548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13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3161B4-EFA5-48D3-81E3-CC0734F7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6999289" cy="791882"/>
          </a:xfrm>
        </p:spPr>
        <p:txBody>
          <a:bodyPr/>
          <a:lstStyle/>
          <a:p>
            <a:r>
              <a:rPr lang="es-AR" dirty="0"/>
              <a:t>REGRESION LINEAL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1ABF619-35BF-4E8D-BAB6-343703444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70" y="1187183"/>
            <a:ext cx="7400696" cy="41628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9F1B3189-3D1B-4B46-9DF7-6DF0BF1CA54F}"/>
                  </a:ext>
                </a:extLst>
              </p:cNvPr>
              <p:cNvSpPr txBox="1"/>
              <p:nvPr/>
            </p:nvSpPr>
            <p:spPr>
              <a:xfrm>
                <a:off x="595310" y="5801011"/>
                <a:ext cx="78116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𝐶𝑜𝑚𝑜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𝑢𝑛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𝑚𝑜𝑑𝑒𝑙𝑜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𝑒𝑠𝑡𝑖𝑚𝑎𝑟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𝑡𝑜𝑚𝑎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𝑙𝑎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𝑠𝑖𝑔𝑢𝑖𝑒𝑛𝑡𝑒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𝑓𝑜𝑟𝑚𝑎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→</m:t>
                      </m:r>
                      <m:acc>
                        <m:accPr>
                          <m:chr m:val="̂"/>
                          <m:ctrlPr>
                            <a:rPr lang="es-AR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s-AR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s-AR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s-AR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s-AR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s-AR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AR" b="1" dirty="0"/>
              </a:p>
              <a:p>
                <a:endParaRPr lang="es-AR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9F1B3189-3D1B-4B46-9DF7-6DF0BF1CA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10" y="5801011"/>
                <a:ext cx="7811616" cy="646331"/>
              </a:xfrm>
              <a:prstGeom prst="rect">
                <a:avLst/>
              </a:prstGeom>
              <a:blipFill>
                <a:blip r:embed="rId3"/>
                <a:stretch>
                  <a:fillRect t="-188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7279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3161B4-EFA5-48D3-81E3-CC0734F7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6999289" cy="791882"/>
          </a:xfrm>
        </p:spPr>
        <p:txBody>
          <a:bodyPr/>
          <a:lstStyle/>
          <a:p>
            <a:r>
              <a:rPr lang="es-AR" dirty="0"/>
              <a:t>REGRESION LINEAL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E61F6360-D7D8-495B-B0A8-69BD772846AD}"/>
                  </a:ext>
                </a:extLst>
              </p:cNvPr>
              <p:cNvSpPr txBox="1"/>
              <p:nvPr/>
            </p:nvSpPr>
            <p:spPr>
              <a:xfrm>
                <a:off x="475989" y="1244600"/>
                <a:ext cx="1000829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AR" dirty="0"/>
                  <a:t>El modelo no explica la relación al 100%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AR" dirty="0"/>
                  <a:t>Contiene una parte no explicada</a:t>
                </a:r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A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A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AR" dirty="0"/>
                  <a:t> es la parte aleatoria o estocástica del modelo, también conocido como residuo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E61F6360-D7D8-495B-B0A8-69BD77284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89" y="1244600"/>
                <a:ext cx="10008295" cy="923330"/>
              </a:xfrm>
              <a:prstGeom prst="rect">
                <a:avLst/>
              </a:prstGeom>
              <a:blipFill>
                <a:blip r:embed="rId3"/>
                <a:stretch>
                  <a:fillRect l="-365" t="-3289" b="-921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5F863ED5-9839-47C9-87FF-7721DAB49891}"/>
                  </a:ext>
                </a:extLst>
              </p:cNvPr>
              <p:cNvSpPr/>
              <p:nvPr/>
            </p:nvSpPr>
            <p:spPr>
              <a:xfrm>
                <a:off x="-551145" y="4366905"/>
                <a:ext cx="664714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s-AR" sz="36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s-AR" sz="36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s-AR" sz="36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s-AR" sz="3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s-AR" sz="3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AR" sz="3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s-AR" b="1" dirty="0"/>
              </a:p>
            </p:txBody>
          </p:sp>
        </mc:Choice>
        <mc:Fallback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5F863ED5-9839-47C9-87FF-7721DAB498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51145" y="4366905"/>
                <a:ext cx="6647145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aph of a line and a line">
            <a:extLst>
              <a:ext uri="{FF2B5EF4-FFF2-40B4-BE49-F238E27FC236}">
                <a16:creationId xmlns:a16="http://schemas.microsoft.com/office/drawing/2014/main" id="{C4194BE2-21B4-7854-CFD4-8FE1C5F7E6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459" y="2263806"/>
            <a:ext cx="7204722" cy="405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7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3161B4-EFA5-48D3-81E3-CC0734F7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6999289" cy="791882"/>
          </a:xfrm>
        </p:spPr>
        <p:txBody>
          <a:bodyPr/>
          <a:lstStyle/>
          <a:p>
            <a:r>
              <a:rPr lang="es-AR" dirty="0"/>
              <a:t>REGRESION LINEAL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3FDD3E74-C633-4AE7-B738-253E10042134}"/>
                  </a:ext>
                </a:extLst>
              </p:cNvPr>
              <p:cNvSpPr txBox="1"/>
              <p:nvPr/>
            </p:nvSpPr>
            <p:spPr>
              <a:xfrm>
                <a:off x="646110" y="1244600"/>
                <a:ext cx="10840257" cy="1908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AR" dirty="0"/>
                  <a:t>El mejor modelo a estimar es aquel que minimiza la parte no explicada</a:t>
                </a:r>
              </a:p>
              <a:p>
                <a:endParaRPr lang="es-A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AR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s-A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nary>
                    <m:r>
                      <a:rPr lang="es-AR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AR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A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AR" dirty="0"/>
                  <a:t>El problema es que el modelo nace de dichos residuos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AR" dirty="0"/>
                  <a:t>Se recurre al método de </a:t>
                </a:r>
                <a:r>
                  <a:rPr lang="es-AR" dirty="0" err="1"/>
                  <a:t>Minimos</a:t>
                </a:r>
                <a:r>
                  <a:rPr lang="es-AR" dirty="0"/>
                  <a:t> Cuadrados Ordinarios</a:t>
                </a: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3FDD3E74-C633-4AE7-B738-253E10042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10" y="1244600"/>
                <a:ext cx="10840257" cy="1908215"/>
              </a:xfrm>
              <a:prstGeom prst="rect">
                <a:avLst/>
              </a:prstGeom>
              <a:blipFill>
                <a:blip r:embed="rId3"/>
                <a:stretch>
                  <a:fillRect l="-394" t="-1597" b="-415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B0C61C7-2FCB-47A3-9B09-32EFE36A756D}"/>
                  </a:ext>
                </a:extLst>
              </p:cNvPr>
              <p:cNvSpPr txBox="1"/>
              <p:nvPr/>
            </p:nvSpPr>
            <p:spPr>
              <a:xfrm>
                <a:off x="646110" y="3273936"/>
                <a:ext cx="1748877" cy="745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𝑀𝑖𝑛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s-AR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s-A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B0C61C7-2FCB-47A3-9B09-32EFE36A7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10" y="3273936"/>
                <a:ext cx="1748877" cy="745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D4910691-49F5-4508-B12D-AF74235A83C6}"/>
                  </a:ext>
                </a:extLst>
              </p:cNvPr>
              <p:cNvSpPr/>
              <p:nvPr/>
            </p:nvSpPr>
            <p:spPr>
              <a:xfrm>
                <a:off x="461444" y="4065818"/>
                <a:ext cx="2807820" cy="837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000" i="1" smtClean="0">
                          <a:latin typeface="Cambria Math" panose="02040503050406030204" pitchFamily="18" charset="0"/>
                        </a:rPr>
                        <m:t>𝑀𝑖𝑛</m:t>
                      </m:r>
                      <m:r>
                        <a:rPr lang="es-AR" sz="200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s-AR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A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AR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AR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AR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s-AR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A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AR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s-A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D4910691-49F5-4508-B12D-AF74235A83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44" y="4065818"/>
                <a:ext cx="2807820" cy="837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4EBA8154-8810-4481-A73E-796F704CAC7D}"/>
                  </a:ext>
                </a:extLst>
              </p:cNvPr>
              <p:cNvSpPr/>
              <p:nvPr/>
            </p:nvSpPr>
            <p:spPr>
              <a:xfrm>
                <a:off x="3590098" y="4465404"/>
                <a:ext cx="230197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A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4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es-AR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s-AR" sz="24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s-AR" sz="2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s-AR" sz="24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s-AR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s-A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AR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4EBA8154-8810-4481-A73E-796F704CAC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098" y="4465404"/>
                <a:ext cx="2301977" cy="461665"/>
              </a:xfrm>
              <a:prstGeom prst="rect">
                <a:avLst/>
              </a:prstGeom>
              <a:blipFill>
                <a:blip r:embed="rId6"/>
                <a:stretch>
                  <a:fillRect t="-2667" b="-21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E750C4C4-70E2-454B-860B-12DE8B44F525}"/>
                  </a:ext>
                </a:extLst>
              </p:cNvPr>
              <p:cNvSpPr/>
              <p:nvPr/>
            </p:nvSpPr>
            <p:spPr>
              <a:xfrm>
                <a:off x="461444" y="4961677"/>
                <a:ext cx="3462678" cy="763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 smtClean="0">
                          <a:latin typeface="Cambria Math" panose="02040503050406030204" pitchFamily="18" charset="0"/>
                        </a:rPr>
                        <m:t>𝑀𝑖𝑛</m:t>
                      </m:r>
                      <m:r>
                        <a:rPr lang="es-AR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s-A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𝜷</m:t>
                                      </m:r>
                                    </m:e>
                                    <m:sub>
                                      <m:r>
                                        <a:rPr lang="es-AR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  <m:r>
                                    <a:rPr lang="es-AR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s-A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𝜷</m:t>
                                      </m:r>
                                    </m:e>
                                    <m:sub>
                                      <m:r>
                                        <a:rPr lang="es-AR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A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s-AR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E750C4C4-70E2-454B-860B-12DE8B44F5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44" y="4961677"/>
                <a:ext cx="3462678" cy="7630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0EDB949E-C1DE-4B54-B86B-931A8CF469B1}"/>
                  </a:ext>
                </a:extLst>
              </p:cNvPr>
              <p:cNvSpPr/>
              <p:nvPr/>
            </p:nvSpPr>
            <p:spPr>
              <a:xfrm>
                <a:off x="461444" y="5816486"/>
                <a:ext cx="3366499" cy="763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 smtClean="0">
                          <a:latin typeface="Cambria Math" panose="02040503050406030204" pitchFamily="18" charset="0"/>
                        </a:rPr>
                        <m:t>𝑀𝑖𝑛</m:t>
                      </m:r>
                      <m:r>
                        <a:rPr lang="es-AR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A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𝜷</m:t>
                                      </m:r>
                                    </m:e>
                                    <m:sub>
                                      <m:r>
                                        <a:rPr lang="es-AR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  <m:r>
                                    <a:rPr lang="es-AR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A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𝜷</m:t>
                                      </m:r>
                                    </m:e>
                                    <m:sub>
                                      <m:r>
                                        <a:rPr lang="es-AR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A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s-AR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0EDB949E-C1DE-4B54-B86B-931A8CF469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44" y="5816486"/>
                <a:ext cx="3366499" cy="7630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diagram of a line graph">
            <a:extLst>
              <a:ext uri="{FF2B5EF4-FFF2-40B4-BE49-F238E27FC236}">
                <a16:creationId xmlns:a16="http://schemas.microsoft.com/office/drawing/2014/main" id="{C98C9AFA-8DF6-6518-A858-F152F3CAD4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738" y="3212569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356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FF1C127-0F59-443A-9E67-F09750782ECC}"/>
                  </a:ext>
                </a:extLst>
              </p:cNvPr>
              <p:cNvSpPr txBox="1"/>
              <p:nvPr/>
            </p:nvSpPr>
            <p:spPr>
              <a:xfrm>
                <a:off x="-543861" y="364066"/>
                <a:ext cx="6067838" cy="986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i="1">
                          <a:latin typeface="Cambria Math" panose="02040503050406030204" pitchFamily="18" charset="0"/>
                        </a:rPr>
                        <m:t>𝑀𝑖𝑛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AR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𝜷</m:t>
                                      </m:r>
                                    </m:e>
                                    <m:sub>
                                      <m:r>
                                        <a:rPr lang="es-AR" sz="24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  <m:r>
                                    <a:rPr lang="es-AR" sz="2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AR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𝜷</m:t>
                                      </m:r>
                                    </m:e>
                                    <m:sub>
                                      <m:r>
                                        <a:rPr lang="es-AR" sz="24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AR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s-AR" sz="24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s-AR" sz="20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FF1C127-0F59-443A-9E67-F09750782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43861" y="364066"/>
                <a:ext cx="6067838" cy="9866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2C24516-DF53-4AFB-A55A-F29D4EA4EBBC}"/>
                  </a:ext>
                </a:extLst>
              </p:cNvPr>
              <p:cNvSpPr txBox="1"/>
              <p:nvPr/>
            </p:nvSpPr>
            <p:spPr>
              <a:xfrm>
                <a:off x="411901" y="1514668"/>
                <a:ext cx="9789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𝑀𝑖𝑛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sz="240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2C24516-DF53-4AFB-A55A-F29D4EA4E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01" y="1514668"/>
                <a:ext cx="9789090" cy="369332"/>
              </a:xfrm>
              <a:prstGeom prst="rect">
                <a:avLst/>
              </a:prstGeom>
              <a:blipFill>
                <a:blip r:embed="rId3"/>
                <a:stretch>
                  <a:fillRect b="-3770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C8991CE2-EAE8-4D42-AF3E-9A6F491E08F6}"/>
                  </a:ext>
                </a:extLst>
              </p:cNvPr>
              <p:cNvSpPr/>
              <p:nvPr/>
            </p:nvSpPr>
            <p:spPr>
              <a:xfrm>
                <a:off x="411901" y="2074577"/>
                <a:ext cx="1904496" cy="10300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s-A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s-AR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s-A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s-A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s-A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C8991CE2-EAE8-4D42-AF3E-9A6F491E08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01" y="2074577"/>
                <a:ext cx="1904496" cy="103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2E47B8C-66C2-44FA-AC84-0698A849887D}"/>
                  </a:ext>
                </a:extLst>
              </p:cNvPr>
              <p:cNvSpPr txBox="1"/>
              <p:nvPr/>
            </p:nvSpPr>
            <p:spPr>
              <a:xfrm>
                <a:off x="436953" y="3266841"/>
                <a:ext cx="1101929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+…+2</m:t>
                      </m:r>
                      <m:d>
                        <m:d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2E47B8C-66C2-44FA-AC84-0698A8498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53" y="3266841"/>
                <a:ext cx="11019299" cy="369332"/>
              </a:xfrm>
              <a:prstGeom prst="rect">
                <a:avLst/>
              </a:prstGeom>
              <a:blipFill>
                <a:blip r:embed="rId5"/>
                <a:stretch>
                  <a:fillRect l="-498" r="-498" b="-38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6F204C38-8FB3-4607-BBCB-CB9C4CC87C27}"/>
                  </a:ext>
                </a:extLst>
              </p:cNvPr>
              <p:cNvSpPr txBox="1"/>
              <p:nvPr/>
            </p:nvSpPr>
            <p:spPr>
              <a:xfrm>
                <a:off x="411901" y="3948532"/>
                <a:ext cx="8769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6F204C38-8FB3-4607-BBCB-CB9C4CC87C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01" y="3948532"/>
                <a:ext cx="8769580" cy="369332"/>
              </a:xfrm>
              <a:prstGeom prst="rect">
                <a:avLst/>
              </a:prstGeom>
              <a:blipFill>
                <a:blip r:embed="rId6"/>
                <a:stretch>
                  <a:fillRect r="-278" b="-38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968BAE19-0203-4044-8F27-06F3D1138CDA}"/>
                  </a:ext>
                </a:extLst>
              </p:cNvPr>
              <p:cNvSpPr/>
              <p:nvPr/>
            </p:nvSpPr>
            <p:spPr>
              <a:xfrm>
                <a:off x="162839" y="4472881"/>
                <a:ext cx="854275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sz="2400" dirty="0"/>
              </a:p>
            </p:txBody>
          </p:sp>
        </mc:Choice>
        <mc:Fallback xmlns="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968BAE19-0203-4044-8F27-06F3D1138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39" y="4472881"/>
                <a:ext cx="8542751" cy="461665"/>
              </a:xfrm>
              <a:prstGeom prst="rect">
                <a:avLst/>
              </a:prstGeom>
              <a:blipFill>
                <a:blip r:embed="rId7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44ADAE36-EFDD-460B-95EE-95FA23BCF1F5}"/>
                  </a:ext>
                </a:extLst>
              </p:cNvPr>
              <p:cNvSpPr/>
              <p:nvPr/>
            </p:nvSpPr>
            <p:spPr>
              <a:xfrm>
                <a:off x="411901" y="5189932"/>
                <a:ext cx="92678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−…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−…−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44ADAE36-EFDD-460B-95EE-95FA23BCF1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01" y="5189932"/>
                <a:ext cx="9267858" cy="461665"/>
              </a:xfrm>
              <a:prstGeom prst="rect">
                <a:avLst/>
              </a:prstGeom>
              <a:blipFill>
                <a:blip r:embed="rId8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7606FA2-1147-4E6E-A052-1D17DABE0966}"/>
                  </a:ext>
                </a:extLst>
              </p:cNvPr>
              <p:cNvSpPr txBox="1"/>
              <p:nvPr/>
            </p:nvSpPr>
            <p:spPr>
              <a:xfrm>
                <a:off x="533378" y="5852780"/>
                <a:ext cx="3670236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7606FA2-1147-4E6E-A052-1D17DABE0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78" y="5852780"/>
                <a:ext cx="3670236" cy="89434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2562031D-A5C1-4FA0-874D-64D371F9B421}"/>
                  </a:ext>
                </a:extLst>
              </p:cNvPr>
              <p:cNvSpPr/>
              <p:nvPr/>
            </p:nvSpPr>
            <p:spPr>
              <a:xfrm>
                <a:off x="6920978" y="5806614"/>
                <a:ext cx="3318922" cy="9866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AR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2562031D-A5C1-4FA0-874D-64D371F9B4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0978" y="5806614"/>
                <a:ext cx="3318922" cy="9866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D2BAF0B5-B5F9-44D2-95ED-48668769906F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4308953" y="6299954"/>
            <a:ext cx="26120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638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994AF278-BE4D-4B90-91E6-CB5C7B806FE1}"/>
                  </a:ext>
                </a:extLst>
              </p:cNvPr>
              <p:cNvSpPr/>
              <p:nvPr/>
            </p:nvSpPr>
            <p:spPr>
              <a:xfrm>
                <a:off x="454903" y="191518"/>
                <a:ext cx="4369851" cy="12848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i="1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s-A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3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sz="3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A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AR" sz="3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A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AR" sz="3200" dirty="0"/>
              </a:p>
            </p:txBody>
          </p:sp>
        </mc:Choice>
        <mc:Fallback xmlns="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994AF278-BE4D-4B90-91E6-CB5C7B806F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03" y="191518"/>
                <a:ext cx="4369851" cy="12848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D73EAB23-A10D-477B-BBCC-630BC40633E5}"/>
                  </a:ext>
                </a:extLst>
              </p:cNvPr>
              <p:cNvSpPr/>
              <p:nvPr/>
            </p:nvSpPr>
            <p:spPr>
              <a:xfrm>
                <a:off x="454902" y="1268757"/>
                <a:ext cx="4369851" cy="12848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s-A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3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sz="3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A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AR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D73EAB23-A10D-477B-BBCC-630BC40633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02" y="1268757"/>
                <a:ext cx="4369851" cy="12848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026EF0CF-C493-449A-9F3D-B542E377105D}"/>
                  </a:ext>
                </a:extLst>
              </p:cNvPr>
              <p:cNvSpPr/>
              <p:nvPr/>
            </p:nvSpPr>
            <p:spPr>
              <a:xfrm>
                <a:off x="454901" y="2345996"/>
                <a:ext cx="3620670" cy="10444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3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3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AR" sz="3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AR" sz="3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sz="3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sz="3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num>
                        <m:den>
                          <m:r>
                            <a:rPr lang="es-A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026EF0CF-C493-449A-9F3D-B542E37710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01" y="2345996"/>
                <a:ext cx="3620670" cy="10444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398E8125-72FB-4C62-AA7A-872C1250442F}"/>
                  </a:ext>
                </a:extLst>
              </p:cNvPr>
              <p:cNvSpPr/>
              <p:nvPr/>
            </p:nvSpPr>
            <p:spPr>
              <a:xfrm>
                <a:off x="454901" y="3704594"/>
                <a:ext cx="4127220" cy="12848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3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sz="3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s-A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AR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3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AR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s-AR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f>
                                <m:fPr>
                                  <m:ctrlPr>
                                    <a:rPr lang="es-A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AR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sz="3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s-AR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398E8125-72FB-4C62-AA7A-872C125044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01" y="3704594"/>
                <a:ext cx="4127220" cy="12848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C3CA03A1-80F2-4752-8FEE-33F0310CC50C}"/>
                  </a:ext>
                </a:extLst>
              </p:cNvPr>
              <p:cNvSpPr/>
              <p:nvPr/>
            </p:nvSpPr>
            <p:spPr>
              <a:xfrm>
                <a:off x="6453137" y="3885348"/>
                <a:ext cx="4379853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5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5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sz="54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s-AR" sz="5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5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s-AR" sz="5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5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5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5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s-AR" sz="5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5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C3CA03A1-80F2-4752-8FEE-33F0310CC5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3137" y="3885348"/>
                <a:ext cx="4379853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0884AB1F-81EE-46C7-8A0B-72033AEA38F4}"/>
              </a:ext>
            </a:extLst>
          </p:cNvPr>
          <p:cNvCxnSpPr/>
          <p:nvPr/>
        </p:nvCxnSpPr>
        <p:spPr>
          <a:xfrm>
            <a:off x="4722312" y="4347013"/>
            <a:ext cx="16033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00BFFD6-8FBC-4E1C-8A9C-1E4E7203E811}"/>
              </a:ext>
            </a:extLst>
          </p:cNvPr>
          <p:cNvSpPr/>
          <p:nvPr/>
        </p:nvSpPr>
        <p:spPr>
          <a:xfrm>
            <a:off x="6453137" y="3569918"/>
            <a:ext cx="4532189" cy="170344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2181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FF1C127-0F59-443A-9E67-F09750782ECC}"/>
                  </a:ext>
                </a:extLst>
              </p:cNvPr>
              <p:cNvSpPr txBox="1"/>
              <p:nvPr/>
            </p:nvSpPr>
            <p:spPr>
              <a:xfrm>
                <a:off x="-543861" y="364066"/>
                <a:ext cx="6067838" cy="986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i="1">
                          <a:latin typeface="Cambria Math" panose="02040503050406030204" pitchFamily="18" charset="0"/>
                        </a:rPr>
                        <m:t>𝑀𝑖𝑛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AR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𝜷</m:t>
                                      </m:r>
                                    </m:e>
                                    <m:sub>
                                      <m:r>
                                        <a:rPr lang="es-AR" sz="24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  <m:r>
                                    <a:rPr lang="es-AR" sz="2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AR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𝜷</m:t>
                                      </m:r>
                                    </m:e>
                                    <m:sub>
                                      <m:r>
                                        <a:rPr lang="es-AR" sz="24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AR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s-AR" sz="24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s-AR" sz="20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FF1C127-0F59-443A-9E67-F09750782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43861" y="364066"/>
                <a:ext cx="6067838" cy="9866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2C24516-DF53-4AFB-A55A-F29D4EA4EBBC}"/>
                  </a:ext>
                </a:extLst>
              </p:cNvPr>
              <p:cNvSpPr txBox="1"/>
              <p:nvPr/>
            </p:nvSpPr>
            <p:spPr>
              <a:xfrm>
                <a:off x="270507" y="1306573"/>
                <a:ext cx="97890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𝑀𝑖𝑛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sz="240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2C24516-DF53-4AFB-A55A-F29D4EA4E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07" y="1306573"/>
                <a:ext cx="9789090" cy="369332"/>
              </a:xfrm>
              <a:prstGeom prst="rect">
                <a:avLst/>
              </a:prstGeom>
              <a:blipFill>
                <a:blip r:embed="rId3"/>
                <a:stretch>
                  <a:fillRect b="-3770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C8991CE2-EAE8-4D42-AF3E-9A6F491E08F6}"/>
                  </a:ext>
                </a:extLst>
              </p:cNvPr>
              <p:cNvSpPr/>
              <p:nvPr/>
            </p:nvSpPr>
            <p:spPr>
              <a:xfrm>
                <a:off x="424427" y="1858146"/>
                <a:ext cx="1904496" cy="10300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s-A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s-AR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s-A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s-A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s-A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C8991CE2-EAE8-4D42-AF3E-9A6F491E08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427" y="1858146"/>
                <a:ext cx="1904496" cy="103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2E47B8C-66C2-44FA-AC84-0698A849887D}"/>
                  </a:ext>
                </a:extLst>
              </p:cNvPr>
              <p:cNvSpPr txBox="1"/>
              <p:nvPr/>
            </p:nvSpPr>
            <p:spPr>
              <a:xfrm>
                <a:off x="88714" y="3174342"/>
                <a:ext cx="1149167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+…+2</m:t>
                      </m:r>
                      <m:d>
                        <m:d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2E47B8C-66C2-44FA-AC84-0698A8498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14" y="3174342"/>
                <a:ext cx="11491672" cy="369332"/>
              </a:xfrm>
              <a:prstGeom prst="rect">
                <a:avLst/>
              </a:prstGeom>
              <a:blipFill>
                <a:blip r:embed="rId5"/>
                <a:stretch>
                  <a:fillRect l="-212" r="-159" b="-38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6F204C38-8FB3-4607-BBCB-CB9C4CC87C27}"/>
                  </a:ext>
                </a:extLst>
              </p:cNvPr>
              <p:cNvSpPr txBox="1"/>
              <p:nvPr/>
            </p:nvSpPr>
            <p:spPr>
              <a:xfrm>
                <a:off x="88714" y="3772280"/>
                <a:ext cx="10661444" cy="374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(−2)</m:t>
                      </m:r>
                      <m:d>
                        <m:dPr>
                          <m:ctrlPr>
                            <a:rPr lang="es-A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6F204C38-8FB3-4607-BBCB-CB9C4CC87C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14" y="3772280"/>
                <a:ext cx="10661444" cy="374333"/>
              </a:xfrm>
              <a:prstGeom prst="rect">
                <a:avLst/>
              </a:prstGeom>
              <a:blipFill>
                <a:blip r:embed="rId6"/>
                <a:stretch>
                  <a:fillRect l="-515" r="-172" b="-3770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968BAE19-0203-4044-8F27-06F3D1138CDA}"/>
                  </a:ext>
                </a:extLst>
              </p:cNvPr>
              <p:cNvSpPr/>
              <p:nvPr/>
            </p:nvSpPr>
            <p:spPr>
              <a:xfrm>
                <a:off x="-822962" y="4357478"/>
                <a:ext cx="12029161" cy="4666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A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AR" sz="240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AR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sz="2400" dirty="0"/>
              </a:p>
            </p:txBody>
          </p:sp>
        </mc:Choice>
        <mc:Fallback xmlns="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968BAE19-0203-4044-8F27-06F3D1138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22962" y="4357478"/>
                <a:ext cx="12029161" cy="466666"/>
              </a:xfrm>
              <a:prstGeom prst="rect">
                <a:avLst/>
              </a:prstGeom>
              <a:blipFill>
                <a:blip r:embed="rId7"/>
                <a:stretch>
                  <a:fillRect b="-2105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44ADAE36-EFDD-460B-95EE-95FA23BCF1F5}"/>
                  </a:ext>
                </a:extLst>
              </p:cNvPr>
              <p:cNvSpPr/>
              <p:nvPr/>
            </p:nvSpPr>
            <p:spPr>
              <a:xfrm>
                <a:off x="-702294" y="5105129"/>
                <a:ext cx="12894294" cy="4666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−…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A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−…−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AR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44ADAE36-EFDD-460B-95EE-95FA23BCF1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02294" y="5105129"/>
                <a:ext cx="12894294" cy="466666"/>
              </a:xfrm>
              <a:prstGeom prst="rect">
                <a:avLst/>
              </a:prstGeom>
              <a:blipFill>
                <a:blip r:embed="rId8"/>
                <a:stretch>
                  <a:fillRect b="-1948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7606FA2-1147-4E6E-A052-1D17DABE0966}"/>
                  </a:ext>
                </a:extLst>
              </p:cNvPr>
              <p:cNvSpPr txBox="1"/>
              <p:nvPr/>
            </p:nvSpPr>
            <p:spPr>
              <a:xfrm>
                <a:off x="88714" y="5844441"/>
                <a:ext cx="4581639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7606FA2-1147-4E6E-A052-1D17DABE0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14" y="5844441"/>
                <a:ext cx="4581639" cy="89434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2562031D-A5C1-4FA0-874D-64D371F9B421}"/>
                  </a:ext>
                </a:extLst>
              </p:cNvPr>
              <p:cNvSpPr/>
              <p:nvPr/>
            </p:nvSpPr>
            <p:spPr>
              <a:xfrm>
                <a:off x="7459598" y="5831700"/>
                <a:ext cx="4230325" cy="9866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s-AR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2562031D-A5C1-4FA0-874D-64D371F9B4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9598" y="5831700"/>
                <a:ext cx="4230325" cy="9866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9C8A68C3-F58C-4258-A9E1-E03BDCD47649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4670353" y="6291615"/>
            <a:ext cx="26072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984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19474309-5AE6-4AB7-8AF8-B2EC6AE4842A}"/>
                  </a:ext>
                </a:extLst>
              </p:cNvPr>
              <p:cNvSpPr txBox="1"/>
              <p:nvPr/>
            </p:nvSpPr>
            <p:spPr>
              <a:xfrm>
                <a:off x="375781" y="375780"/>
                <a:ext cx="4256358" cy="19373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m:rPr>
                                  <m:nor/>
                                </m:rPr>
                                <a:rPr lang="es-AR" sz="2400" dirty="0"/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AR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eqArr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19474309-5AE6-4AB7-8AF8-B2EC6AE48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81" y="375780"/>
                <a:ext cx="4256358" cy="19373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1A37811-824E-4C54-9FBE-D67E1A5B2DBC}"/>
                  </a:ext>
                </a:extLst>
              </p:cNvPr>
              <p:cNvSpPr txBox="1"/>
              <p:nvPr/>
            </p:nvSpPr>
            <p:spPr>
              <a:xfrm>
                <a:off x="237994" y="3056350"/>
                <a:ext cx="4266296" cy="20520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"/>
                              <m:ctrlPr>
                                <a:rPr lang="es-A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s-A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AR" sz="3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s-AR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s-AR" sz="3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AR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AR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den>
                              </m:f>
                            </m:e>
                          </m:d>
                          <m:r>
                            <a:rPr lang="es-AR" sz="3600" b="0" i="1" smtClean="0">
                              <a:latin typeface="Cambria Math" panose="02040503050406030204" pitchFamily="18" charset="0"/>
                            </a:rPr>
                            <m:t>           </m:t>
                          </m:r>
                          <m:d>
                            <m:dPr>
                              <m:begChr m:val=""/>
                              <m:endChr m:val="|"/>
                              <m:ctrlPr>
                                <a:rPr lang="es-A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s-A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s-AR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s-AR" sz="3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AR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s-AR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num>
                                <m:den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s-AR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s-AR" sz="3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AR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s-AR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s-AR" sz="3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AR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AR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"/>
                              <m:ctrlPr>
                                <a:rPr lang="es-A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s-A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AR" sz="3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s-AR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s-AR" sz="3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AR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AR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den>
                              </m:f>
                            </m:e>
                          </m:d>
                          <m:r>
                            <a:rPr lang="es-AR" sz="3600" b="0" i="1" smtClean="0">
                              <a:latin typeface="Cambria Math" panose="02040503050406030204" pitchFamily="18" charset="0"/>
                            </a:rPr>
                            <m:t>             </m:t>
                          </m:r>
                          <m:d>
                            <m:dPr>
                              <m:begChr m:val=""/>
                              <m:endChr m:val="|"/>
                              <m:ctrlPr>
                                <a:rPr lang="es-A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s-A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s-AR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s-AR" sz="3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AR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AR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num>
                                <m:den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s-AR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s-AR" sz="3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AR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AR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s-AR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nary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1A37811-824E-4C54-9FBE-D67E1A5B2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94" y="3056350"/>
                <a:ext cx="4266296" cy="20520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D31B828C-42FB-4C06-83E9-BD86B76F2E5D}"/>
                  </a:ext>
                </a:extLst>
              </p:cNvPr>
              <p:cNvSpPr/>
              <p:nvPr/>
            </p:nvSpPr>
            <p:spPr>
              <a:xfrm>
                <a:off x="7046155" y="3495316"/>
                <a:ext cx="4575290" cy="11741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sz="3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sz="32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AR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s-AR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sz="32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sz="32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s-A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sz="32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s-AR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AR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s-AR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es-AR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AR" sz="3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AR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s-AR" sz="3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s-AR" sz="32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A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A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s-A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D31B828C-42FB-4C06-83E9-BD86B76F2E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155" y="3495316"/>
                <a:ext cx="4575290" cy="11741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957EEB1B-7B71-4DEB-878B-5087DDD3C64C}"/>
              </a:ext>
            </a:extLst>
          </p:cNvPr>
          <p:cNvCxnSpPr>
            <a:cxnSpLocks/>
          </p:cNvCxnSpPr>
          <p:nvPr/>
        </p:nvCxnSpPr>
        <p:spPr>
          <a:xfrm>
            <a:off x="4504290" y="4094894"/>
            <a:ext cx="23506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B90BAEE3-7AE4-49E1-8BA1-4645730188D6}"/>
              </a:ext>
            </a:extLst>
          </p:cNvPr>
          <p:cNvSpPr/>
          <p:nvPr/>
        </p:nvSpPr>
        <p:spPr>
          <a:xfrm>
            <a:off x="7046155" y="3056350"/>
            <a:ext cx="4907851" cy="253022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775AD028-0AC8-493C-AF0A-D87DA5BA63AB}"/>
              </a:ext>
            </a:extLst>
          </p:cNvPr>
          <p:cNvCxnSpPr>
            <a:cxnSpLocks/>
          </p:cNvCxnSpPr>
          <p:nvPr/>
        </p:nvCxnSpPr>
        <p:spPr>
          <a:xfrm flipV="1">
            <a:off x="2242159" y="4464269"/>
            <a:ext cx="1177446" cy="358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034D058E-C9EA-41FA-A563-AFBAA4B33CBC}"/>
              </a:ext>
            </a:extLst>
          </p:cNvPr>
          <p:cNvCxnSpPr>
            <a:cxnSpLocks/>
          </p:cNvCxnSpPr>
          <p:nvPr/>
        </p:nvCxnSpPr>
        <p:spPr>
          <a:xfrm>
            <a:off x="2234590" y="4464269"/>
            <a:ext cx="1185015" cy="358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82E6C781-D07C-44F0-8D79-C226FAF634D7}"/>
              </a:ext>
            </a:extLst>
          </p:cNvPr>
          <p:cNvCxnSpPr>
            <a:cxnSpLocks/>
          </p:cNvCxnSpPr>
          <p:nvPr/>
        </p:nvCxnSpPr>
        <p:spPr>
          <a:xfrm flipV="1">
            <a:off x="2242159" y="3428720"/>
            <a:ext cx="1051384" cy="354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7F4974B1-6DB0-4BF9-A6C7-D52A904B6153}"/>
              </a:ext>
            </a:extLst>
          </p:cNvPr>
          <p:cNvCxnSpPr>
            <a:cxnSpLocks/>
          </p:cNvCxnSpPr>
          <p:nvPr/>
        </p:nvCxnSpPr>
        <p:spPr>
          <a:xfrm>
            <a:off x="2154477" y="3495316"/>
            <a:ext cx="1014608" cy="287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730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>
                <a:extLst>
                  <a:ext uri="{FF2B5EF4-FFF2-40B4-BE49-F238E27FC236}">
                    <a16:creationId xmlns:a16="http://schemas.microsoft.com/office/drawing/2014/main" id="{AF46D56F-109A-4BE8-88A1-07DA0CCC7CD6}"/>
                  </a:ext>
                </a:extLst>
              </p:cNvPr>
              <p:cNvSpPr/>
              <p:nvPr/>
            </p:nvSpPr>
            <p:spPr>
              <a:xfrm>
                <a:off x="432303" y="222650"/>
                <a:ext cx="3471463" cy="9036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s-A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AR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AR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" name="Rectángulo 1">
                <a:extLst>
                  <a:ext uri="{FF2B5EF4-FFF2-40B4-BE49-F238E27FC236}">
                    <a16:creationId xmlns:a16="http://schemas.microsoft.com/office/drawing/2014/main" id="{AF46D56F-109A-4BE8-88A1-07DA0CCC7C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03" y="222650"/>
                <a:ext cx="3471463" cy="9036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2F7E3B56-CC8D-4713-BBF4-70E584192EF9}"/>
                  </a:ext>
                </a:extLst>
              </p:cNvPr>
              <p:cNvSpPr/>
              <p:nvPr/>
            </p:nvSpPr>
            <p:spPr>
              <a:xfrm>
                <a:off x="169257" y="1126295"/>
                <a:ext cx="4593502" cy="14021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∗(</m:t>
                          </m:r>
                          <m:f>
                            <m:fPr>
                              <m:ctrlP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d>
                            <m:dPr>
                              <m:ctrlP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subHide m:val="on"/>
                                          <m:supHide m:val="on"/>
                                          <m:ctrlPr>
                                            <a:rPr lang="es-A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s-AR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AR" sz="24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s-AR" sz="2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∗(</m:t>
                          </m:r>
                          <m:f>
                            <m:fPr>
                              <m:ctrlP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2F7E3B56-CC8D-4713-BBF4-70E584192E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57" y="1126295"/>
                <a:ext cx="4593502" cy="1402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78FC0412-384D-48F2-BD1F-80822FEE448A}"/>
                  </a:ext>
                </a:extLst>
              </p:cNvPr>
              <p:cNvSpPr/>
              <p:nvPr/>
            </p:nvSpPr>
            <p:spPr>
              <a:xfrm>
                <a:off x="169257" y="2829821"/>
                <a:ext cx="3471463" cy="14997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sSup>
                                <m:sSup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AR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sSup>
                                <m:sSupPr>
                                  <m:ctrlPr>
                                    <a:rPr lang="es-A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num>
                            <m:den>
                              <m:sSup>
                                <m:sSup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A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subHide m:val="on"/>
                                          <m:supHide m:val="on"/>
                                          <m:ctrlPr>
                                            <a:rPr lang="es-A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s-AR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AR" sz="24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s-AR" sz="2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78FC0412-384D-48F2-BD1F-80822FEE44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57" y="2829821"/>
                <a:ext cx="3471463" cy="14997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7B82C770-8E37-4C5F-89B6-47CCF8838CFB}"/>
                  </a:ext>
                </a:extLst>
              </p:cNvPr>
              <p:cNvSpPr/>
              <p:nvPr/>
            </p:nvSpPr>
            <p:spPr>
              <a:xfrm>
                <a:off x="156970" y="4631002"/>
                <a:ext cx="4022127" cy="17386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AR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sz="2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s-AR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AR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sz="2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s-AR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s-AR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sz="2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num>
                            <m:den>
                              <m: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s-AR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AR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AR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AR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nary>
                                        <m:naryPr>
                                          <m:chr m:val="∑"/>
                                          <m:subHide m:val="on"/>
                                          <m:supHide m:val="on"/>
                                          <m:ctrlPr>
                                            <a:rPr lang="es-AR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s-AR" sz="28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A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s-A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num>
                                    <m:den>
                                      <m:r>
                                        <a:rPr lang="es-AR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7B82C770-8E37-4C5F-89B6-47CCF8838C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70" y="4631002"/>
                <a:ext cx="4022127" cy="17386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31A89D2D-4A1C-45AF-9F8C-7DDCA1F82016}"/>
                  </a:ext>
                </a:extLst>
              </p:cNvPr>
              <p:cNvSpPr/>
              <p:nvPr/>
            </p:nvSpPr>
            <p:spPr>
              <a:xfrm>
                <a:off x="6444381" y="909586"/>
                <a:ext cx="3044551" cy="16451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AR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sz="2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r>
                                <a:rPr lang="es-AR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s-AR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s-AR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s-AR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num>
                        <m:den>
                          <m:f>
                            <m:fPr>
                              <m:ctrlPr>
                                <a:rPr lang="es-AR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sz="2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s-AR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num>
                            <m:den>
                              <m:r>
                                <a:rPr lang="es-AR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s-AR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A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AR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AR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8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s-AR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31A89D2D-4A1C-45AF-9F8C-7DDCA1F820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381" y="909586"/>
                <a:ext cx="3044551" cy="16451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0FD4F3B4-3834-498F-85F4-BD6687803126}"/>
                  </a:ext>
                </a:extLst>
              </p:cNvPr>
              <p:cNvSpPr/>
              <p:nvPr/>
            </p:nvSpPr>
            <p:spPr>
              <a:xfrm>
                <a:off x="6648298" y="5125849"/>
                <a:ext cx="2987741" cy="11312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AR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3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  <m:r>
                            <a:rPr lang="es-AR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AR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AR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Sup>
                            <m:sSubSupPr>
                              <m:ctrlPr>
                                <a:rPr lang="es-AR" sz="32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AR" sz="3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AR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s-A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0FD4F3B4-3834-498F-85F4-BD66878031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298" y="5125849"/>
                <a:ext cx="2987741" cy="11312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B247BF99-C6B0-4F60-9E44-2667F679DF9C}"/>
              </a:ext>
            </a:extLst>
          </p:cNvPr>
          <p:cNvCxnSpPr/>
          <p:nvPr/>
        </p:nvCxnSpPr>
        <p:spPr>
          <a:xfrm>
            <a:off x="7966656" y="2829821"/>
            <a:ext cx="0" cy="1801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8D8CF21-2B99-4371-BDBB-03DB9720832B}"/>
              </a:ext>
            </a:extLst>
          </p:cNvPr>
          <p:cNvSpPr/>
          <p:nvPr/>
        </p:nvSpPr>
        <p:spPr>
          <a:xfrm>
            <a:off x="6444381" y="4747364"/>
            <a:ext cx="4540945" cy="184132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07747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14" grpId="0"/>
      <p:bldP spid="15" grpId="0"/>
      <p:bldP spid="16" grpId="0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DA694B-EBCF-4794-806E-C4D9BA3D6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9" y="153291"/>
            <a:ext cx="8946542" cy="912619"/>
          </a:xfrm>
        </p:spPr>
        <p:txBody>
          <a:bodyPr/>
          <a:lstStyle/>
          <a:p>
            <a:r>
              <a:rPr lang="es-AR" dirty="0"/>
              <a:t>COEFICIENTE DE DETERMINACION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4B9FD66-1140-4420-B2F4-0413588D9498}"/>
                  </a:ext>
                </a:extLst>
              </p:cNvPr>
              <p:cNvSpPr txBox="1"/>
              <p:nvPr/>
            </p:nvSpPr>
            <p:spPr>
              <a:xfrm>
                <a:off x="588723" y="1302707"/>
                <a:ext cx="11160691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AR" dirty="0"/>
                  <a:t>Una vez establecido el modelo que minimiza los residuos debemos ponerlo a prueba para saber que tan bueno 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AR" dirty="0"/>
                  <a:t>Coeficiente de determinación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AR" dirty="0"/>
                  <a:t> 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AR" dirty="0"/>
                  <a:t> nos determina en que porcentaje el modelo explica la relación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AR" dirty="0"/>
              </a:p>
              <a:p>
                <a:endParaRPr lang="es-A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AR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4B9FD66-1140-4420-B2F4-0413588D9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23" y="1302707"/>
                <a:ext cx="11160691" cy="2031325"/>
              </a:xfrm>
              <a:prstGeom prst="rect">
                <a:avLst/>
              </a:prstGeom>
              <a:blipFill>
                <a:blip r:embed="rId2"/>
                <a:stretch>
                  <a:fillRect l="-383" t="-180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diagram of a graph&#10;&#10;Description automatically generated">
            <a:extLst>
              <a:ext uri="{FF2B5EF4-FFF2-40B4-BE49-F238E27FC236}">
                <a16:creationId xmlns:a16="http://schemas.microsoft.com/office/drawing/2014/main" id="{E5EFBB01-481A-2F6E-52F4-39E591A276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295" y="2377735"/>
            <a:ext cx="7433569" cy="418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49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DA694B-EBCF-4794-806E-C4D9BA3D6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9" y="153291"/>
            <a:ext cx="8946542" cy="912619"/>
          </a:xfrm>
        </p:spPr>
        <p:txBody>
          <a:bodyPr/>
          <a:lstStyle/>
          <a:p>
            <a:r>
              <a:rPr lang="es-AR" dirty="0"/>
              <a:t>COEFICIENTE DE DETERMINACION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4392EC56-5951-4C7B-82FE-85FA90EA30D0}"/>
                  </a:ext>
                </a:extLst>
              </p:cNvPr>
              <p:cNvSpPr txBox="1"/>
              <p:nvPr/>
            </p:nvSpPr>
            <p:spPr>
              <a:xfrm>
                <a:off x="539510" y="4235527"/>
                <a:ext cx="2306785" cy="6102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A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𝑉𝐸</m:t>
                          </m:r>
                        </m:num>
                        <m:den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𝑉𝑇</m:t>
                          </m:r>
                        </m:den>
                      </m:f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4392EC56-5951-4C7B-82FE-85FA90EA3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10" y="4235527"/>
                <a:ext cx="2306785" cy="6102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AA23615-69CA-4B29-A37F-FAA17B2151C5}"/>
                  </a:ext>
                </a:extLst>
              </p:cNvPr>
              <p:cNvSpPr txBox="1"/>
              <p:nvPr/>
            </p:nvSpPr>
            <p:spPr>
              <a:xfrm>
                <a:off x="656080" y="1158032"/>
                <a:ext cx="1943994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𝑉𝐸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s-A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AR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AA23615-69CA-4B29-A37F-FAA17B215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80" y="1158032"/>
                <a:ext cx="1943994" cy="6707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7D74D13F-DBF7-49C9-83BC-4CCFE3F3114C}"/>
                  </a:ext>
                </a:extLst>
              </p:cNvPr>
              <p:cNvSpPr/>
              <p:nvPr/>
            </p:nvSpPr>
            <p:spPr>
              <a:xfrm>
                <a:off x="482250" y="1859380"/>
                <a:ext cx="2291653" cy="763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AR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s-AR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A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s-AR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AR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7D74D13F-DBF7-49C9-83BC-4CCFE3F311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50" y="1859380"/>
                <a:ext cx="2291653" cy="7630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54F904BD-AE65-4BE1-B1B3-593D56F884F7}"/>
                  </a:ext>
                </a:extLst>
              </p:cNvPr>
              <p:cNvSpPr/>
              <p:nvPr/>
            </p:nvSpPr>
            <p:spPr>
              <a:xfrm>
                <a:off x="539510" y="2498609"/>
                <a:ext cx="2060564" cy="763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s-AR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54F904BD-AE65-4BE1-B1B3-593D56F884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10" y="2498609"/>
                <a:ext cx="2060564" cy="7630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86B0749-58DF-42CD-9E17-B11527E61467}"/>
                  </a:ext>
                </a:extLst>
              </p:cNvPr>
              <p:cNvSpPr txBox="1"/>
              <p:nvPr/>
            </p:nvSpPr>
            <p:spPr>
              <a:xfrm>
                <a:off x="568510" y="3457798"/>
                <a:ext cx="16918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𝑉𝐸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𝑉𝑁𝐸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𝑉𝑇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86B0749-58DF-42CD-9E17-B11527E61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10" y="3457798"/>
                <a:ext cx="1691873" cy="276999"/>
              </a:xfrm>
              <a:prstGeom prst="rect">
                <a:avLst/>
              </a:prstGeom>
              <a:blipFill>
                <a:blip r:embed="rId7"/>
                <a:stretch>
                  <a:fillRect l="-2518" r="-2518" b="-1087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4B95B924-2B5C-48E4-A58F-A59107B8CE85}"/>
                  </a:ext>
                </a:extLst>
              </p:cNvPr>
              <p:cNvSpPr/>
              <p:nvPr/>
            </p:nvSpPr>
            <p:spPr>
              <a:xfrm>
                <a:off x="281834" y="5185231"/>
                <a:ext cx="3520066" cy="7025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A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s-A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𝑉𝑇</m:t>
                          </m:r>
                        </m:den>
                      </m:f>
                      <m:r>
                        <a:rPr lang="es-A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s-A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4B95B924-2B5C-48E4-A58F-A59107B8CE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34" y="5185231"/>
                <a:ext cx="3520066" cy="7025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F124838-3449-4A7D-A336-C8F39B6A8B9E}"/>
                  </a:ext>
                </a:extLst>
              </p:cNvPr>
              <p:cNvSpPr txBox="1"/>
              <p:nvPr/>
            </p:nvSpPr>
            <p:spPr>
              <a:xfrm>
                <a:off x="4113586" y="5905845"/>
                <a:ext cx="157556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AR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A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F124838-3449-4A7D-A336-C8F39B6A8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586" y="5905845"/>
                <a:ext cx="1575560" cy="369332"/>
              </a:xfrm>
              <a:prstGeom prst="rect">
                <a:avLst/>
              </a:prstGeom>
              <a:blipFill>
                <a:blip r:embed="rId9"/>
                <a:stretch>
                  <a:fillRect l="-3876" r="-3876" b="-150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E221AAF-B6E1-4078-AC12-130B0C9E6396}"/>
                  </a:ext>
                </a:extLst>
              </p:cNvPr>
              <p:cNvSpPr txBox="1"/>
              <p:nvPr/>
            </p:nvSpPr>
            <p:spPr>
              <a:xfrm>
                <a:off x="5779858" y="5536513"/>
                <a:ext cx="45620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i="1">
                          <a:latin typeface="Cambria Math" panose="02040503050406030204" pitchFamily="18" charset="0"/>
                        </a:rPr>
                        <m:t>𝑠𝑖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2400" i="1">
                          <a:latin typeface="Cambria Math" panose="02040503050406030204" pitchFamily="18" charset="0"/>
                        </a:rPr>
                        <m:t>→0  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𝐸𝑙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𝑚𝑜𝑑𝑒𝑙𝑜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𝑛𝑜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𝑏𝑢𝑒𝑛𝑜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E221AAF-B6E1-4078-AC12-130B0C9E6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9858" y="5536513"/>
                <a:ext cx="4562018" cy="369332"/>
              </a:xfrm>
              <a:prstGeom prst="rect">
                <a:avLst/>
              </a:prstGeom>
              <a:blipFill>
                <a:blip r:embed="rId10"/>
                <a:stretch>
                  <a:fillRect l="-935" r="-935" b="-983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359B84E4-E015-438B-A52B-FCF3F6D74BC9}"/>
                  </a:ext>
                </a:extLst>
              </p:cNvPr>
              <p:cNvSpPr/>
              <p:nvPr/>
            </p:nvSpPr>
            <p:spPr>
              <a:xfrm>
                <a:off x="5818299" y="6164795"/>
                <a:ext cx="433278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i="1" smtClean="0">
                          <a:latin typeface="Cambria Math" panose="02040503050406030204" pitchFamily="18" charset="0"/>
                        </a:rPr>
                        <m:t>𝑠𝑖</m:t>
                      </m:r>
                      <m:r>
                        <a:rPr lang="es-AR" sz="240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AR" sz="2400" b="0" i="1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𝐸𝑙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𝑚𝑜𝑑𝑒𝑙𝑜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𝑏𝑢𝑒𝑛𝑜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359B84E4-E015-438B-A52B-FCF3F6D74B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299" y="6164795"/>
                <a:ext cx="4332789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 descr="A diagram of a graph&#10;&#10;Description automatically generated">
            <a:extLst>
              <a:ext uri="{FF2B5EF4-FFF2-40B4-BE49-F238E27FC236}">
                <a16:creationId xmlns:a16="http://schemas.microsoft.com/office/drawing/2014/main" id="{28512A8B-C040-AD06-3903-BA258EB4475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3585" y="963764"/>
            <a:ext cx="7753361" cy="436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596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8" grpId="0"/>
      <p:bldP spid="9" grpId="0"/>
      <p:bldP spid="10" grpId="0"/>
      <p:bldP spid="4" grpId="0"/>
      <p:bldP spid="11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DA694B-EBCF-4794-806E-C4D9BA3D6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9" y="153291"/>
            <a:ext cx="8946542" cy="912619"/>
          </a:xfrm>
        </p:spPr>
        <p:txBody>
          <a:bodyPr/>
          <a:lstStyle/>
          <a:p>
            <a:r>
              <a:rPr lang="es-AR" dirty="0"/>
              <a:t>COEFICIENTE DE CORRELACION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334E8CB-2ED3-490A-B00B-3E01B861EC41}"/>
                  </a:ext>
                </a:extLst>
              </p:cNvPr>
              <p:cNvSpPr txBox="1"/>
              <p:nvPr/>
            </p:nvSpPr>
            <p:spPr>
              <a:xfrm>
                <a:off x="315238" y="1227087"/>
                <a:ext cx="1156152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AR" dirty="0"/>
                  <a:t>El coeficiente de correlación o de “Pearson”,  </a:t>
                </a:r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s-AR" dirty="0"/>
                  <a:t> o </a:t>
                </a:r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s-AR" dirty="0"/>
                  <a:t> nos permite conocer el grado de relación existente entre las variables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334E8CB-2ED3-490A-B00B-3E01B861E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238" y="1227087"/>
                <a:ext cx="11561523" cy="646331"/>
              </a:xfrm>
              <a:prstGeom prst="rect">
                <a:avLst/>
              </a:prstGeom>
              <a:blipFill>
                <a:blip r:embed="rId2"/>
                <a:stretch>
                  <a:fillRect l="-369" t="-4717" b="-1415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E818EBCB-B18E-4A0C-A36F-C8E5629902B1}"/>
                  </a:ext>
                </a:extLst>
              </p:cNvPr>
              <p:cNvSpPr txBox="1"/>
              <p:nvPr/>
            </p:nvSpPr>
            <p:spPr>
              <a:xfrm>
                <a:off x="594987" y="3677273"/>
                <a:ext cx="2932085" cy="121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6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AR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36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  <m:r>
                            <a:rPr lang="es-AR" sz="3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AR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AR" sz="3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s-A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6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A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A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6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AR" sz="3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E818EBCB-B18E-4A0C-A36F-C8E562990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987" y="3677273"/>
                <a:ext cx="2932085" cy="12106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DA9246B3-A357-47B6-86C3-076122556781}"/>
                  </a:ext>
                </a:extLst>
              </p:cNvPr>
              <p:cNvSpPr txBox="1"/>
              <p:nvPr/>
            </p:nvSpPr>
            <p:spPr>
              <a:xfrm>
                <a:off x="6894364" y="3429000"/>
                <a:ext cx="4344394" cy="16544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A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A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s-A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s-A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s-A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A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A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s-A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nary>
                                </m:num>
                                <m:den>
                                  <m:r>
                                    <a:rPr lang="es-AR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A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8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s-A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s-A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s-A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A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s-A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s-A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nary>
                                </m:num>
                                <m:den>
                                  <m:r>
                                    <a:rPr lang="es-AR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A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sz="28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s-A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DA9246B3-A357-47B6-86C3-076122556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364" y="3429000"/>
                <a:ext cx="4344394" cy="16544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52541ADF-1181-4D50-9D9D-0568698EF0CA}"/>
              </a:ext>
            </a:extLst>
          </p:cNvPr>
          <p:cNvCxnSpPr/>
          <p:nvPr/>
        </p:nvCxnSpPr>
        <p:spPr>
          <a:xfrm>
            <a:off x="3832964" y="4271375"/>
            <a:ext cx="28183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B10FB68-4D8A-4FD9-AC63-9084DDE4903E}"/>
              </a:ext>
            </a:extLst>
          </p:cNvPr>
          <p:cNvSpPr/>
          <p:nvPr/>
        </p:nvSpPr>
        <p:spPr>
          <a:xfrm>
            <a:off x="6789107" y="2855934"/>
            <a:ext cx="4945692" cy="311896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0477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DA694B-EBCF-4794-806E-C4D9BA3D6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9" y="153291"/>
            <a:ext cx="8946542" cy="912619"/>
          </a:xfrm>
        </p:spPr>
        <p:txBody>
          <a:bodyPr/>
          <a:lstStyle/>
          <a:p>
            <a:r>
              <a:rPr lang="es-AR" dirty="0"/>
              <a:t>COEFICIENTE DE CORRELACION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C080F55B-1661-40A0-9049-5B35AD8F80A4}"/>
                  </a:ext>
                </a:extLst>
              </p:cNvPr>
              <p:cNvSpPr/>
              <p:nvPr/>
            </p:nvSpPr>
            <p:spPr>
              <a:xfrm>
                <a:off x="245958" y="939958"/>
                <a:ext cx="3219215" cy="11558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AR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nary>
                                </m:num>
                                <m:den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nary>
                                </m:num>
                                <m:den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C080F55B-1661-40A0-9049-5B35AD8F80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58" y="939958"/>
                <a:ext cx="3219215" cy="11558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39E2653-E658-4E91-9F33-AAC5A6613DB3}"/>
                  </a:ext>
                </a:extLst>
              </p:cNvPr>
              <p:cNvSpPr txBox="1"/>
              <p:nvPr/>
            </p:nvSpPr>
            <p:spPr>
              <a:xfrm>
                <a:off x="3402528" y="971221"/>
                <a:ext cx="4017317" cy="13387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A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A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sSup>
                                <m:sSupPr>
                                  <m:ctrlPr>
                                    <a:rPr lang="es-A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f>
                            <m:fPr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AR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s-A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s-AR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A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AR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s-AR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nary>
                                </m:num>
                                <m:den>
                                  <m:sSup>
                                    <m:sSupPr>
                                      <m:ctrlPr>
                                        <a:rPr lang="es-A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s-A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nary>
                                            <m:naryPr>
                                              <m:chr m:val="∑"/>
                                              <m:subHide m:val="on"/>
                                              <m:supHide m:val="on"/>
                                              <m:ctrlPr>
                                                <a:rPr lang="es-A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/>
                                            <m:sup/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s-A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s-A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s-A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nary>
                                        </m:num>
                                        <m:den>
                                          <m:r>
                                            <a:rPr lang="es-A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s-AR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s-A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s-AR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AR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s-AR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s-AR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nary>
                                </m:num>
                                <m:den>
                                  <m:sSup>
                                    <m:sSupPr>
                                      <m:ctrlPr>
                                        <a:rPr lang="es-A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s-A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nary>
                                            <m:naryPr>
                                              <m:chr m:val="∑"/>
                                              <m:subHide m:val="on"/>
                                              <m:supHide m:val="on"/>
                                              <m:ctrlPr>
                                                <a:rPr lang="es-A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/>
                                            <m:sup/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s-A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s-A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s-A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nary>
                                        </m:num>
                                        <m:den>
                                          <m:r>
                                            <a:rPr lang="es-A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39E2653-E658-4E91-9F33-AAC5A6613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528" y="971221"/>
                <a:ext cx="4017317" cy="13387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C1540640-997F-447E-BD3A-A17FF0D0DE3A}"/>
                  </a:ext>
                </a:extLst>
              </p:cNvPr>
              <p:cNvSpPr/>
              <p:nvPr/>
            </p:nvSpPr>
            <p:spPr>
              <a:xfrm>
                <a:off x="7307110" y="923607"/>
                <a:ext cx="4064639" cy="11721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sSup>
                                <m:sSup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s-A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sSup>
                                <m:sSupPr>
                                  <m:ctrlPr>
                                    <a:rPr lang="es-A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s-AR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nary>
                                </m:num>
                                <m:den>
                                  <m:sSup>
                                    <m:sSup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s-A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A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AR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nary>
                                            <m:naryPr>
                                              <m:chr m:val="∑"/>
                                              <m:subHide m:val="on"/>
                                              <m:supHide m:val="on"/>
                                              <m:ctrlPr>
                                                <a:rPr lang="es-AR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/>
                                            <m:sup/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s-AR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s-A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s-A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nary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s-A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nary>
                                </m:num>
                                <m:den>
                                  <m:sSup>
                                    <m:sSup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s-A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A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AR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nary>
                                            <m:naryPr>
                                              <m:chr m:val="∑"/>
                                              <m:subHide m:val="on"/>
                                              <m:supHide m:val="on"/>
                                              <m:ctrlPr>
                                                <a:rPr lang="es-AR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/>
                                            <m:sup/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s-AR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s-A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s-A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nary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s-A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den>
                      </m:f>
                      <m:r>
                        <a:rPr lang="es-AR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C1540640-997F-447E-BD3A-A17FF0D0DE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7110" y="923607"/>
                <a:ext cx="4064639" cy="11721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EA52B35F-E520-446A-A86D-FEDB64520B97}"/>
                  </a:ext>
                </a:extLst>
              </p:cNvPr>
              <p:cNvSpPr/>
              <p:nvPr/>
            </p:nvSpPr>
            <p:spPr>
              <a:xfrm>
                <a:off x="0" y="2534994"/>
                <a:ext cx="5131661" cy="11548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A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A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s-A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subHide m:val="on"/>
                                          <m:supHide m:val="on"/>
                                          <m:ctrlPr>
                                            <a:rPr lang="es-A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s-A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A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s-A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s-A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subHide m:val="on"/>
                                          <m:supHide m:val="on"/>
                                          <m:ctrlP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A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s-A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lang="es-AR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EA52B35F-E520-446A-A86D-FEDB64520B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34994"/>
                <a:ext cx="5131661" cy="11548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55604B84-2E6D-4D62-8342-406D85E982C2}"/>
                  </a:ext>
                </a:extLst>
              </p:cNvPr>
              <p:cNvSpPr/>
              <p:nvPr/>
            </p:nvSpPr>
            <p:spPr>
              <a:xfrm>
                <a:off x="4891267" y="2543107"/>
                <a:ext cx="5425652" cy="11694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AR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s-A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subHide m:val="on"/>
                                          <m:supHide m:val="on"/>
                                          <m:ctrlP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s-AR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A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s-A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subHide m:val="on"/>
                                          <m:supHide m:val="on"/>
                                          <m:ctrlP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55604B84-2E6D-4D62-8342-406D85E982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267" y="2543107"/>
                <a:ext cx="5425652" cy="11694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D6729CB2-57D4-4A5E-9B15-0A553DFF8E02}"/>
                  </a:ext>
                </a:extLst>
              </p:cNvPr>
              <p:cNvSpPr/>
              <p:nvPr/>
            </p:nvSpPr>
            <p:spPr>
              <a:xfrm>
                <a:off x="79572" y="3914870"/>
                <a:ext cx="5052089" cy="11548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f>
                            <m:fPr>
                              <m:ctrlPr>
                                <a:rPr lang="es-A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subHide m:val="on"/>
                                          <m:supHide m:val="on"/>
                                          <m:ctrlP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  <m:f>
                            <m:fPr>
                              <m:ctrlPr>
                                <a:rPr lang="es-A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subHide m:val="on"/>
                                          <m:supHide m:val="on"/>
                                          <m:ctrlP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D6729CB2-57D4-4A5E-9B15-0A553DFF8E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2" y="3914870"/>
                <a:ext cx="5052089" cy="115480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09F67894-0C13-4336-96D2-2D9457E4FC86}"/>
                  </a:ext>
                </a:extLst>
              </p:cNvPr>
              <p:cNvSpPr/>
              <p:nvPr/>
            </p:nvSpPr>
            <p:spPr>
              <a:xfrm>
                <a:off x="4891267" y="3914870"/>
                <a:ext cx="4928593" cy="11912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f>
                            <m:fPr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A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subHide m:val="on"/>
                                          <m:supHide m:val="on"/>
                                          <m:ctrlP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subHide m:val="on"/>
                                          <m:supHide m:val="on"/>
                                          <m:ctrlP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lang="es-AR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09F67894-0C13-4336-96D2-2D9457E4FC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267" y="3914870"/>
                <a:ext cx="4928593" cy="11912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6CFFB025-2038-461E-A460-A347BE49DD08}"/>
                  </a:ext>
                </a:extLst>
              </p:cNvPr>
              <p:cNvSpPr/>
              <p:nvPr/>
            </p:nvSpPr>
            <p:spPr>
              <a:xfrm>
                <a:off x="409143" y="5400588"/>
                <a:ext cx="4482124" cy="9723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A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A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es-A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s-A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s-AR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A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AR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s-AR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nary>
                                  <m:r>
                                    <a:rPr lang="es-A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A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nary>
                                            <m:naryPr>
                                              <m:chr m:val="∑"/>
                                              <m:subHide m:val="on"/>
                                              <m:supHide m:val="on"/>
                                              <m:ctrlPr>
                                                <a:rPr lang="es-A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/>
                                            <m:sup/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s-A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s-A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s-A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nary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A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A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subHide m:val="on"/>
                                          <m:supHide m:val="on"/>
                                          <m:ctrlPr>
                                            <a:rPr lang="es-A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s-A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s-A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6CFFB025-2038-461E-A460-A347BE49DD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143" y="5400588"/>
                <a:ext cx="4482124" cy="97238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ángulo 15">
            <a:extLst>
              <a:ext uri="{FF2B5EF4-FFF2-40B4-BE49-F238E27FC236}">
                <a16:creationId xmlns:a16="http://schemas.microsoft.com/office/drawing/2014/main" id="{2F48A017-7CC1-483A-939E-9EBD1B927D1D}"/>
              </a:ext>
            </a:extLst>
          </p:cNvPr>
          <p:cNvSpPr/>
          <p:nvPr/>
        </p:nvSpPr>
        <p:spPr>
          <a:xfrm>
            <a:off x="419476" y="5158881"/>
            <a:ext cx="4471791" cy="139367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3CD4338-5CAC-4AC5-A43A-C2DBEAF1F877}"/>
                  </a:ext>
                </a:extLst>
              </p:cNvPr>
              <p:cNvSpPr txBox="1"/>
              <p:nvPr/>
            </p:nvSpPr>
            <p:spPr>
              <a:xfrm>
                <a:off x="5254550" y="5855717"/>
                <a:ext cx="13453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3CD4338-5CAC-4AC5-A43A-C2DBEAF1F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550" y="5855717"/>
                <a:ext cx="1345368" cy="307777"/>
              </a:xfrm>
              <a:prstGeom prst="rect">
                <a:avLst/>
              </a:prstGeom>
              <a:blipFill>
                <a:blip r:embed="rId10"/>
                <a:stretch>
                  <a:fillRect l="-452" r="-3167" b="-180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D08EC97-D630-4C60-800C-7164425B39C1}"/>
                  </a:ext>
                </a:extLst>
              </p:cNvPr>
              <p:cNvSpPr txBox="1"/>
              <p:nvPr/>
            </p:nvSpPr>
            <p:spPr>
              <a:xfrm>
                <a:off x="6799026" y="5400588"/>
                <a:ext cx="534325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𝑠𝑖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s-A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→1   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𝐿𝑎𝑠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𝑣𝑎𝑟𝑖𝑏𝑙𝑒𝑠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𝑡𝑖𝑒𝑛𝑒𝑛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𝑟𝑒𝑙𝑎𝑐𝑖𝑜𝑛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𝑓𝑢𝑒𝑟𝑡𝑒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D08EC97-D630-4C60-800C-7164425B3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026" y="5400588"/>
                <a:ext cx="5343258" cy="307777"/>
              </a:xfrm>
              <a:prstGeom prst="rect">
                <a:avLst/>
              </a:prstGeom>
              <a:blipFill>
                <a:blip r:embed="rId11"/>
                <a:stretch>
                  <a:fillRect l="-456" r="-1140" b="-380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2C05E5D0-75C1-404C-8826-7241C03D0463}"/>
                  </a:ext>
                </a:extLst>
              </p:cNvPr>
              <p:cNvSpPr/>
              <p:nvPr/>
            </p:nvSpPr>
            <p:spPr>
              <a:xfrm>
                <a:off x="6711887" y="5763384"/>
                <a:ext cx="528676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000" i="1" smtClean="0">
                          <a:latin typeface="Cambria Math" panose="02040503050406030204" pitchFamily="18" charset="0"/>
                        </a:rPr>
                        <m:t>𝑠𝑖</m:t>
                      </m:r>
                      <m:r>
                        <a:rPr lang="es-AR" sz="200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s-A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s-AR" sz="20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es-AR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000" i="1">
                          <a:latin typeface="Cambria Math" panose="02040503050406030204" pitchFamily="18" charset="0"/>
                        </a:rPr>
                        <m:t>𝐿𝑎𝑠</m:t>
                      </m:r>
                      <m:r>
                        <a:rPr lang="es-AR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000" i="1">
                          <a:latin typeface="Cambria Math" panose="02040503050406030204" pitchFamily="18" charset="0"/>
                        </a:rPr>
                        <m:t>𝑣𝑎𝑟𝑖𝑏𝑙𝑒𝑠</m:t>
                      </m:r>
                      <m:r>
                        <a:rPr lang="es-AR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000" i="1">
                          <a:latin typeface="Cambria Math" panose="02040503050406030204" pitchFamily="18" charset="0"/>
                        </a:rPr>
                        <m:t>𝑡𝑖𝑒𝑛𝑒𝑛</m:t>
                      </m:r>
                      <m:r>
                        <a:rPr lang="es-AR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000" i="1">
                          <a:latin typeface="Cambria Math" panose="02040503050406030204" pitchFamily="18" charset="0"/>
                        </a:rPr>
                        <m:t>𝑟𝑒𝑙𝑎𝑐𝑖𝑜𝑛</m:t>
                      </m:r>
                      <m:r>
                        <a:rPr lang="es-AR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𝑑𝑒𝑏𝑖𝑙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2C05E5D0-75C1-404C-8826-7241C03D04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887" y="5763384"/>
                <a:ext cx="528676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7531A27E-526F-4760-83FE-BC1C8CB39A33}"/>
                  </a:ext>
                </a:extLst>
              </p:cNvPr>
              <p:cNvSpPr/>
              <p:nvPr/>
            </p:nvSpPr>
            <p:spPr>
              <a:xfrm>
                <a:off x="6711887" y="6169851"/>
                <a:ext cx="497443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000" i="1" smtClean="0">
                          <a:latin typeface="Cambria Math" panose="02040503050406030204" pitchFamily="18" charset="0"/>
                        </a:rPr>
                        <m:t>𝑠𝑖</m:t>
                      </m:r>
                      <m:r>
                        <a:rPr lang="es-AR" sz="2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=0   </m:t>
                      </m:r>
                      <m:r>
                        <a:rPr lang="es-AR" sz="2000" i="1">
                          <a:latin typeface="Cambria Math" panose="02040503050406030204" pitchFamily="18" charset="0"/>
                        </a:rPr>
                        <m:t>𝐿𝑎𝑠</m:t>
                      </m:r>
                      <m:r>
                        <a:rPr lang="es-AR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000" i="1">
                          <a:latin typeface="Cambria Math" panose="02040503050406030204" pitchFamily="18" charset="0"/>
                        </a:rPr>
                        <m:t>𝑣𝑎𝑟𝑖𝑏𝑙𝑒𝑠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𝑛𝑜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s-AR" sz="2000" i="1">
                          <a:latin typeface="Cambria Math" panose="02040503050406030204" pitchFamily="18" charset="0"/>
                        </a:rPr>
                        <m:t>𝑡𝑖𝑒𝑛𝑒𝑛</m:t>
                      </m:r>
                      <m:r>
                        <a:rPr lang="es-AR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000" i="1">
                          <a:latin typeface="Cambria Math" panose="02040503050406030204" pitchFamily="18" charset="0"/>
                        </a:rPr>
                        <m:t>𝑟𝑒𝑙𝑎𝑐𝑖𝑜𝑛</m:t>
                      </m:r>
                      <m:r>
                        <a:rPr lang="es-AR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7531A27E-526F-4760-83FE-BC1C8CB39A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887" y="6169851"/>
                <a:ext cx="4974439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50983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9" grpId="0"/>
      <p:bldP spid="10" grpId="0"/>
      <p:bldP spid="13" grpId="0"/>
      <p:bldP spid="16" grpId="0" animBg="1"/>
      <p:bldP spid="4" grpId="0"/>
      <p:bldP spid="11" grpId="0"/>
      <p:bldP spid="12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ACD78F-413C-4236-8D84-23589E6DF69E}"/>
              </a:ext>
            </a:extLst>
          </p:cNvPr>
          <p:cNvSpPr txBox="1"/>
          <p:nvPr/>
        </p:nvSpPr>
        <p:spPr>
          <a:xfrm>
            <a:off x="513184" y="345233"/>
            <a:ext cx="11252718" cy="431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b="1" dirty="0"/>
              <a:t>BIBLIOGRAFÍA</a:t>
            </a:r>
          </a:p>
          <a:p>
            <a:pPr marL="457200" algn="just">
              <a:spcAft>
                <a:spcPts val="600"/>
              </a:spcAft>
            </a:pPr>
            <a:endParaRPr lang="es-AR" sz="24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 algn="just">
              <a:spcAft>
                <a:spcPts val="600"/>
              </a:spcAft>
            </a:pPr>
            <a:endParaRPr lang="es-AR" sz="2400" b="1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 algn="just">
              <a:spcAft>
                <a:spcPts val="600"/>
              </a:spcAft>
            </a:pPr>
            <a:endParaRPr lang="es-AR" sz="24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 algn="just">
              <a:spcAft>
                <a:spcPts val="600"/>
              </a:spcAft>
            </a:pPr>
            <a:endParaRPr lang="es-AR" sz="2400" b="1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 algn="just">
              <a:spcAft>
                <a:spcPts val="600"/>
              </a:spcAft>
            </a:pPr>
            <a:endParaRPr lang="es-AR" sz="24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es-AR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Bachini</a:t>
            </a:r>
            <a:r>
              <a:rPr lang="es-A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D.; Vázquez, L.; Bianco, M. J.; García </a:t>
            </a:r>
            <a:r>
              <a:rPr lang="es-AR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Fronti</a:t>
            </a:r>
            <a:r>
              <a:rPr lang="es-A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J. (2018), </a:t>
            </a:r>
            <a:r>
              <a:rPr lang="es-AR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Introducción a la probabilidad y estadística</a:t>
            </a:r>
            <a:r>
              <a:rPr lang="es-A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Buenos Aires, CMA-FCE-UBA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lnSpc>
                <a:spcPct val="150000"/>
              </a:lnSpc>
              <a:spcAft>
                <a:spcPts val="800"/>
              </a:spcAft>
            </a:pPr>
            <a:r>
              <a:rPr lang="es-AR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Canavos</a:t>
            </a:r>
            <a:r>
              <a:rPr lang="es-A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G. (1984), </a:t>
            </a:r>
            <a:r>
              <a:rPr lang="es-AR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Probabilidad y estadística, aplicaciones y métodos, </a:t>
            </a:r>
            <a:r>
              <a:rPr lang="es-A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México, Mc Graw-Hill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977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6AD9AA-DD5A-4634-8304-3F5813E88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68" y="4849354"/>
            <a:ext cx="9404723" cy="1400530"/>
          </a:xfrm>
        </p:spPr>
        <p:txBody>
          <a:bodyPr/>
          <a:lstStyle/>
          <a:p>
            <a:r>
              <a:rPr lang="es-AR" dirty="0"/>
              <a:t>MUCHAS GRACIAS!!!!!!!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3B719B1-FF96-4A6F-9185-62C1DD21AE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400" y="349099"/>
            <a:ext cx="3884964" cy="4195762"/>
          </a:xfrm>
        </p:spPr>
      </p:pic>
    </p:spTree>
    <p:extLst>
      <p:ext uri="{BB962C8B-B14F-4D97-AF65-F5344CB8AC3E}">
        <p14:creationId xmlns:p14="http://schemas.microsoft.com/office/powerpoint/2010/main" val="2935989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idrio esmerilad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2121</TotalTime>
  <Words>746</Words>
  <Application>Microsoft Office PowerPoint</Application>
  <PresentationFormat>Widescreen</PresentationFormat>
  <Paragraphs>110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 Math</vt:lpstr>
      <vt:lpstr>Century Gothic</vt:lpstr>
      <vt:lpstr>Wingdings 3</vt:lpstr>
      <vt:lpstr>Ion</vt:lpstr>
      <vt:lpstr>Regresion Lineal simple</vt:lpstr>
      <vt:lpstr>REGRESION </vt:lpstr>
      <vt:lpstr>REGRESION </vt:lpstr>
      <vt:lpstr>REGRESION LINEAL </vt:lpstr>
      <vt:lpstr>REGRESION LINEAL </vt:lpstr>
      <vt:lpstr>REGRESION LINEAL </vt:lpstr>
      <vt:lpstr>REGRESION LINEAL </vt:lpstr>
      <vt:lpstr>REGRESION LINEAL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COEFICIENTE DE DETERMINACION </vt:lpstr>
      <vt:lpstr>COEFICIENTE DE DETERMINACION </vt:lpstr>
      <vt:lpstr>COEFICIENTE DE CORRELACION </vt:lpstr>
      <vt:lpstr>COEFICIENTE DE CORRELACION </vt:lpstr>
      <vt:lpstr>PowerPoint Presentation</vt:lpstr>
      <vt:lpstr>MUCHAS GRACIAS!!!!!!!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 ALEATORIAS</dc:title>
  <dc:creator>GUTIERREZ EZEQUIEL</dc:creator>
  <cp:lastModifiedBy>Ezequiel Gutierrez</cp:lastModifiedBy>
  <cp:revision>154</cp:revision>
  <dcterms:created xsi:type="dcterms:W3CDTF">2020-04-03T22:48:23Z</dcterms:created>
  <dcterms:modified xsi:type="dcterms:W3CDTF">2023-08-02T23:04:22Z</dcterms:modified>
</cp:coreProperties>
</file>